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Noto Serif"/>
      <p:regular r:id="rId201314"/>
    </p:embeddedFont>
    <p:embeddedFont>
      <p:font typeface="Noto Serif Medium"/>
      <p:regular r:id="rId201315"/>
    </p:embeddedFont>
    <p:embeddedFont>
      <p:font typeface="Noto Serif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DED2"/>
          </a:solidFill>
          <a:ln/>
        </p:spPr>
      </p:sp>
      <p:sp>
        <p:nvSpPr>
          <p:cNvPr id="3" name="Shape 1"/>
          <p:cNvSpPr/>
          <p:nvPr/>
        </p:nvSpPr>
        <p:spPr>
          <a:xfrm>
            <a:off x="0" y="0"/>
            <a:ext cx="12191695" cy="68580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4293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spc="-74" kern="0" dirty="0">
                <a:solidFill>
                  <a:srgbClr val="3A3A3A"/>
                </a:solidFill>
                <a:latin typeface="Noto Serif Medium" pitchFamily="34" charset="0"/>
                <a:ea typeface="Noto Serif Medium" pitchFamily="34" charset="-122"/>
                <a:cs typeface="Noto Serif Medium" pitchFamily="34" charset="-120"/>
              </a:rPr>
              <a:t>Agricultural Analytics &amp; Climate Forecasting Pipeline</a:t>
            </a:r>
            <a:endParaRPr lang="en-US" sz="3700" dirty="0"/>
          </a:p>
        </p:txBody>
      </p:sp>
      <p:sp>
        <p:nvSpPr>
          <p:cNvPr id="4" name="Text 1"/>
          <p:cNvSpPr/>
          <p:nvPr/>
        </p:nvSpPr>
        <p:spPr>
          <a:xfrm>
            <a:off x="661475" y="3707705"/>
            <a:ext cx="6296860"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C4C4C"/>
                </a:solidFill>
                <a:latin typeface="Noto Serif" pitchFamily="34" charset="0"/>
                <a:ea typeface="Noto Serif" pitchFamily="34" charset="-122"/>
                <a:cs typeface="Noto Serif" pitchFamily="34" charset="-120"/>
              </a:rPr>
              <a:t>Analyzing rainfall, temperature, humidity, and crop yield across South India from 2004 to 2019 — powered by AWS S3, Snowflake, and Power BI.</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39750"/>
            <a:ext cx="10868745" cy="378321"/>
          </a:xfrm>
          <a:prstGeom prst="rect">
            <a:avLst/>
          </a:prstGeom>
          <a:noFill/>
          <a:ln/>
        </p:spPr>
        <p:txBody>
          <a:bodyPr wrap="none" lIns="0" tIns="0" rIns="0" bIns="0" rtlCol="0" anchor="t"/>
          <a:lstStyle/>
          <a:p>
            <a:pPr algn="l" indent="0" marL="0">
              <a:lnSpc>
                <a:spcPct val="104000"/>
              </a:lnSpc>
              <a:buNone/>
            </a:pPr>
            <a:r>
              <a:rPr lang="en-US" sz="2350" spc="-48" kern="0" dirty="0">
                <a:solidFill>
                  <a:srgbClr val="3A3A3A"/>
                </a:solidFill>
                <a:latin typeface="Noto Serif Medium" pitchFamily="34" charset="0"/>
                <a:ea typeface="Noto Serif Medium" pitchFamily="34" charset="-122"/>
                <a:cs typeface="Noto Serif Medium" pitchFamily="34" charset="-120"/>
              </a:rPr>
              <a:t>Project Overview</a:t>
            </a:r>
            <a:endParaRPr lang="en-US" sz="2350" dirty="0"/>
          </a:p>
        </p:txBody>
      </p:sp>
      <p:pic>
        <p:nvPicPr>
          <p:cNvPr id="3" name="Image 0" descr="preencoded.png">    </p:cNvPr>
          <p:cNvPicPr>
            <a:picLocks noChangeAspect="1"/>
          </p:cNvPicPr>
          <p:nvPr/>
        </p:nvPicPr>
        <p:blipFill>
          <a:blip r:embed="rId1"/>
          <a:stretch>
            <a:fillRect/>
          </a:stretch>
        </p:blipFill>
        <p:spPr>
          <a:xfrm>
            <a:off x="661475" y="1121569"/>
            <a:ext cx="6961311" cy="3944838"/>
          </a:xfrm>
          <a:prstGeom prst="rect">
            <a:avLst/>
          </a:prstGeom>
        </p:spPr>
      </p:pic>
      <p:sp>
        <p:nvSpPr>
          <p:cNvPr id="4" name="Text 1"/>
          <p:cNvSpPr/>
          <p:nvPr/>
        </p:nvSpPr>
        <p:spPr>
          <a:xfrm>
            <a:off x="7924403" y="2696865"/>
            <a:ext cx="3612067" cy="794246"/>
          </a:xfrm>
          <a:prstGeom prst="rect">
            <a:avLst/>
          </a:prstGeom>
          <a:noFill/>
          <a:ln/>
        </p:spPr>
        <p:txBody>
          <a:bodyPr wrap="square" lIns="0" tIns="0" rIns="0" bIns="0" rtlCol="0" anchor="t">
            <a:normAutofit/>
          </a:bodyPr>
          <a:lstStyle/>
          <a:p>
            <a:pPr algn="l" indent="0" marL="0">
              <a:lnSpc>
                <a:spcPct val="109000"/>
              </a:lnSpc>
              <a:buNone/>
            </a:pPr>
            <a:r>
              <a:rPr lang="en-US" sz="950" dirty="0">
                <a:solidFill>
                  <a:srgbClr val="4C4C4C"/>
                </a:solidFill>
                <a:latin typeface="Noto Serif" pitchFamily="34" charset="0"/>
                <a:ea typeface="Noto Serif" pitchFamily="34" charset="-122"/>
                <a:cs typeface="Noto Serif" pitchFamily="34" charset="-120"/>
              </a:rPr>
              <a:t>This project analyzes agriculture data for locations in South India from 2004 to 2019. The goal is to see how rainfall, temperature, humidity, and crop yield change by year, season, crop, and location — making it easier to spot which crops, seasons, and places perform best.</a:t>
            </a:r>
            <a:endParaRPr lang="en-US" sz="950" dirty="0"/>
          </a:p>
        </p:txBody>
      </p:sp>
      <p:pic>
        <p:nvPicPr>
          <p:cNvPr id="5" name="Image 1" descr="preencoded.png">    </p:cNvPr>
          <p:cNvPicPr>
            <a:picLocks noChangeAspect="1"/>
          </p:cNvPicPr>
          <p:nvPr/>
        </p:nvPicPr>
        <p:blipFill>
          <a:blip r:embed="rId2"/>
          <a:stretch>
            <a:fillRect/>
          </a:stretch>
        </p:blipFill>
        <p:spPr>
          <a:xfrm>
            <a:off x="661475" y="5240834"/>
            <a:ext cx="3622882" cy="484287"/>
          </a:xfrm>
          <a:prstGeom prst="rect">
            <a:avLst/>
          </a:prstGeom>
        </p:spPr>
      </p:pic>
      <p:sp>
        <p:nvSpPr>
          <p:cNvPr id="6" name="Text 2"/>
          <p:cNvSpPr/>
          <p:nvPr/>
        </p:nvSpPr>
        <p:spPr>
          <a:xfrm>
            <a:off x="782519" y="5802610"/>
            <a:ext cx="3380794" cy="189210"/>
          </a:xfrm>
          <a:prstGeom prst="rect">
            <a:avLst/>
          </a:prstGeom>
          <a:noFill/>
          <a:ln/>
        </p:spPr>
        <p:txBody>
          <a:bodyPr wrap="none" lIns="0" tIns="0" rIns="0" bIns="0" rtlCol="0" anchor="t"/>
          <a:lstStyle/>
          <a:p>
            <a:pPr algn="l" indent="0" marL="0">
              <a:lnSpc>
                <a:spcPct val="104000"/>
              </a:lnSpc>
              <a:buNone/>
            </a:pPr>
            <a:r>
              <a:rPr lang="en-US" sz="1150" spc="-24" kern="0" dirty="0">
                <a:solidFill>
                  <a:srgbClr val="4C4C4C"/>
                </a:solidFill>
                <a:latin typeface="Noto Serif Medium" pitchFamily="34" charset="0"/>
                <a:ea typeface="Noto Serif Medium" pitchFamily="34" charset="-122"/>
                <a:cs typeface="Noto Serif Medium" pitchFamily="34" charset="-120"/>
              </a:rPr>
              <a:t>AWS S3</a:t>
            </a:r>
            <a:endParaRPr lang="en-US" sz="1150" dirty="0"/>
          </a:p>
        </p:txBody>
      </p:sp>
      <p:sp>
        <p:nvSpPr>
          <p:cNvPr id="7" name="Text 3"/>
          <p:cNvSpPr/>
          <p:nvPr/>
        </p:nvSpPr>
        <p:spPr>
          <a:xfrm>
            <a:off x="782519" y="6038354"/>
            <a:ext cx="3380794" cy="158849"/>
          </a:xfrm>
          <a:prstGeom prst="rect">
            <a:avLst/>
          </a:prstGeom>
          <a:noFill/>
          <a:ln/>
        </p:spPr>
        <p:txBody>
          <a:bodyPr wrap="none" lIns="0" tIns="0" rIns="0" bIns="0" rtlCol="0" anchor="t"/>
          <a:lstStyle/>
          <a:p>
            <a:pPr algn="l" indent="0" marL="0">
              <a:lnSpc>
                <a:spcPct val="109000"/>
              </a:lnSpc>
              <a:buNone/>
            </a:pPr>
            <a:r>
              <a:rPr lang="en-US" sz="950" dirty="0">
                <a:solidFill>
                  <a:srgbClr val="4C4C4C"/>
                </a:solidFill>
                <a:latin typeface="Noto Serif" pitchFamily="34" charset="0"/>
                <a:ea typeface="Noto Serif" pitchFamily="34" charset="-122"/>
                <a:cs typeface="Noto Serif" pitchFamily="34" charset="-120"/>
              </a:rPr>
              <a:t>Raw CSV storage</a:t>
            </a:r>
            <a:endParaRPr lang="en-US" sz="950" dirty="0"/>
          </a:p>
        </p:txBody>
      </p:sp>
      <p:pic>
        <p:nvPicPr>
          <p:cNvPr id="8" name="Image 2" descr="preencoded.png">    </p:cNvPr>
          <p:cNvPicPr>
            <a:picLocks noChangeAspect="1"/>
          </p:cNvPicPr>
          <p:nvPr/>
        </p:nvPicPr>
        <p:blipFill>
          <a:blip r:embed="rId3"/>
          <a:stretch>
            <a:fillRect/>
          </a:stretch>
        </p:blipFill>
        <p:spPr>
          <a:xfrm>
            <a:off x="4284357" y="5240834"/>
            <a:ext cx="3622882" cy="484287"/>
          </a:xfrm>
          <a:prstGeom prst="rect">
            <a:avLst/>
          </a:prstGeom>
        </p:spPr>
      </p:pic>
      <p:sp>
        <p:nvSpPr>
          <p:cNvPr id="9" name="Text 4"/>
          <p:cNvSpPr/>
          <p:nvPr/>
        </p:nvSpPr>
        <p:spPr>
          <a:xfrm>
            <a:off x="4405401" y="5802610"/>
            <a:ext cx="3380794" cy="189210"/>
          </a:xfrm>
          <a:prstGeom prst="rect">
            <a:avLst/>
          </a:prstGeom>
          <a:noFill/>
          <a:ln/>
        </p:spPr>
        <p:txBody>
          <a:bodyPr wrap="none" lIns="0" tIns="0" rIns="0" bIns="0" rtlCol="0" anchor="t"/>
          <a:lstStyle/>
          <a:p>
            <a:pPr algn="l" indent="0" marL="0">
              <a:lnSpc>
                <a:spcPct val="104000"/>
              </a:lnSpc>
              <a:buNone/>
            </a:pPr>
            <a:r>
              <a:rPr lang="en-US" sz="1150" spc="-24" kern="0" dirty="0">
                <a:solidFill>
                  <a:srgbClr val="4C4C4C"/>
                </a:solidFill>
                <a:latin typeface="Noto Serif Medium" pitchFamily="34" charset="0"/>
                <a:ea typeface="Noto Serif Medium" pitchFamily="34" charset="-122"/>
                <a:cs typeface="Noto Serif Medium" pitchFamily="34" charset="-120"/>
              </a:rPr>
              <a:t>Snowflake</a:t>
            </a:r>
            <a:endParaRPr lang="en-US" sz="1150" dirty="0"/>
          </a:p>
        </p:txBody>
      </p:sp>
      <p:sp>
        <p:nvSpPr>
          <p:cNvPr id="10" name="Text 5"/>
          <p:cNvSpPr/>
          <p:nvPr/>
        </p:nvSpPr>
        <p:spPr>
          <a:xfrm>
            <a:off x="4405401" y="6038354"/>
            <a:ext cx="3380794" cy="158849"/>
          </a:xfrm>
          <a:prstGeom prst="rect">
            <a:avLst/>
          </a:prstGeom>
          <a:noFill/>
          <a:ln/>
        </p:spPr>
        <p:txBody>
          <a:bodyPr wrap="none" lIns="0" tIns="0" rIns="0" bIns="0" rtlCol="0" anchor="t"/>
          <a:lstStyle/>
          <a:p>
            <a:pPr algn="l" indent="0" marL="0">
              <a:lnSpc>
                <a:spcPct val="109000"/>
              </a:lnSpc>
              <a:buNone/>
            </a:pPr>
            <a:r>
              <a:rPr lang="en-US" sz="950" dirty="0">
                <a:solidFill>
                  <a:srgbClr val="4C4C4C"/>
                </a:solidFill>
                <a:latin typeface="Noto Serif" pitchFamily="34" charset="0"/>
                <a:ea typeface="Noto Serif" pitchFamily="34" charset="-122"/>
                <a:cs typeface="Noto Serif" pitchFamily="34" charset="-120"/>
              </a:rPr>
              <a:t>SQL data preparation</a:t>
            </a:r>
            <a:endParaRPr lang="en-US" sz="950" dirty="0"/>
          </a:p>
        </p:txBody>
      </p:sp>
      <p:pic>
        <p:nvPicPr>
          <p:cNvPr id="11" name="Image 3" descr="preencoded.png">    </p:cNvPr>
          <p:cNvPicPr>
            <a:picLocks noChangeAspect="1"/>
          </p:cNvPicPr>
          <p:nvPr/>
        </p:nvPicPr>
        <p:blipFill>
          <a:blip r:embed="rId4"/>
          <a:stretch>
            <a:fillRect/>
          </a:stretch>
        </p:blipFill>
        <p:spPr>
          <a:xfrm>
            <a:off x="7907239" y="5240834"/>
            <a:ext cx="3622882" cy="484287"/>
          </a:xfrm>
          <a:prstGeom prst="rect">
            <a:avLst/>
          </a:prstGeom>
        </p:spPr>
      </p:pic>
      <p:sp>
        <p:nvSpPr>
          <p:cNvPr id="12" name="Text 6"/>
          <p:cNvSpPr/>
          <p:nvPr/>
        </p:nvSpPr>
        <p:spPr>
          <a:xfrm>
            <a:off x="8028283" y="5802610"/>
            <a:ext cx="3380794" cy="189210"/>
          </a:xfrm>
          <a:prstGeom prst="rect">
            <a:avLst/>
          </a:prstGeom>
          <a:noFill/>
          <a:ln/>
        </p:spPr>
        <p:txBody>
          <a:bodyPr wrap="none" lIns="0" tIns="0" rIns="0" bIns="0" rtlCol="0" anchor="t"/>
          <a:lstStyle/>
          <a:p>
            <a:pPr algn="l" indent="0" marL="0">
              <a:lnSpc>
                <a:spcPct val="104000"/>
              </a:lnSpc>
              <a:buNone/>
            </a:pPr>
            <a:r>
              <a:rPr lang="en-US" sz="1150" spc="-24" kern="0" dirty="0">
                <a:solidFill>
                  <a:srgbClr val="4C4C4C"/>
                </a:solidFill>
                <a:latin typeface="Noto Serif Medium" pitchFamily="34" charset="0"/>
                <a:ea typeface="Noto Serif Medium" pitchFamily="34" charset="-122"/>
                <a:cs typeface="Noto Serif Medium" pitchFamily="34" charset="-120"/>
              </a:rPr>
              <a:t>Power BI</a:t>
            </a:r>
            <a:endParaRPr lang="en-US" sz="1150" dirty="0"/>
          </a:p>
        </p:txBody>
      </p:sp>
      <p:sp>
        <p:nvSpPr>
          <p:cNvPr id="13" name="Text 7"/>
          <p:cNvSpPr/>
          <p:nvPr/>
        </p:nvSpPr>
        <p:spPr>
          <a:xfrm>
            <a:off x="8028283" y="6038354"/>
            <a:ext cx="3380794" cy="158849"/>
          </a:xfrm>
          <a:prstGeom prst="rect">
            <a:avLst/>
          </a:prstGeom>
          <a:noFill/>
          <a:ln/>
        </p:spPr>
        <p:txBody>
          <a:bodyPr wrap="none" lIns="0" tIns="0" rIns="0" bIns="0" rtlCol="0" anchor="t"/>
          <a:lstStyle/>
          <a:p>
            <a:pPr algn="l" indent="0" marL="0">
              <a:lnSpc>
                <a:spcPct val="109000"/>
              </a:lnSpc>
              <a:buNone/>
            </a:pPr>
            <a:r>
              <a:rPr lang="en-US" sz="950" dirty="0">
                <a:solidFill>
                  <a:srgbClr val="4C4C4C"/>
                </a:solidFill>
                <a:latin typeface="Noto Serif" pitchFamily="34" charset="0"/>
                <a:ea typeface="Noto Serif" pitchFamily="34" charset="-122"/>
                <a:cs typeface="Noto Serif" pitchFamily="34" charset="-120"/>
              </a:rPr>
              <a:t>4-page visual report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7531"/>
            <a:ext cx="6296860" cy="479921"/>
          </a:xfrm>
          <a:prstGeom prst="rect">
            <a:avLst/>
          </a:prstGeom>
          <a:noFill/>
          <a:ln/>
        </p:spPr>
        <p:txBody>
          <a:bodyPr wrap="none" lIns="0" tIns="0" rIns="0" bIns="0" rtlCol="0" anchor="t"/>
          <a:lstStyle/>
          <a:p>
            <a:pPr algn="l" indent="0" marL="0">
              <a:lnSpc>
                <a:spcPct val="104000"/>
              </a:lnSpc>
              <a:buNone/>
            </a:pPr>
            <a:r>
              <a:rPr lang="en-US" sz="3000" spc="-60" kern="0" dirty="0">
                <a:solidFill>
                  <a:srgbClr val="3A3A3A"/>
                </a:solidFill>
                <a:latin typeface="Noto Serif Medium" pitchFamily="34" charset="0"/>
                <a:ea typeface="Noto Serif Medium" pitchFamily="34" charset="-122"/>
                <a:cs typeface="Noto Serif Medium" pitchFamily="34" charset="-120"/>
              </a:rPr>
              <a:t>Dataset Summary</a:t>
            </a:r>
            <a:endParaRPr lang="en-US" sz="3000" dirty="0"/>
          </a:p>
        </p:txBody>
      </p:sp>
      <p:sp>
        <p:nvSpPr>
          <p:cNvPr id="4" name="Shape 1"/>
          <p:cNvSpPr/>
          <p:nvPr/>
        </p:nvSpPr>
        <p:spPr>
          <a:xfrm>
            <a:off x="5233360" y="1234579"/>
            <a:ext cx="6296860" cy="1079698"/>
          </a:xfrm>
          <a:prstGeom prst="roundRect">
            <a:avLst>
              <a:gd name="adj" fmla="val 5974"/>
            </a:avLst>
          </a:prstGeom>
          <a:solidFill>
            <a:srgbClr val="E6DED2">
              <a:alpha val="50000"/>
            </a:srgbClr>
          </a:solidFill>
          <a:ln w="6350">
            <a:solidFill>
              <a:srgbClr val="CCC4B8"/>
            </a:solidFill>
            <a:prstDash val="solid"/>
          </a:ln>
          <a:effectLst>
            <a:outerShdw sx="100000" sy="100000" kx="0" ky="0" algn="bl" rotWithShape="0" blurRad="127" dist="20320" dir="2700000">
              <a:srgbClr val="ccc4b8">
                <a:alpha val="100000"/>
              </a:srgbClr>
            </a:outerShdw>
          </a:effectLst>
        </p:spPr>
      </p:sp>
      <p:sp>
        <p:nvSpPr>
          <p:cNvPr id="5" name="Text 2"/>
          <p:cNvSpPr/>
          <p:nvPr/>
        </p:nvSpPr>
        <p:spPr>
          <a:xfrm>
            <a:off x="5393198" y="1394420"/>
            <a:ext cx="5977185" cy="239911"/>
          </a:xfrm>
          <a:prstGeom prst="rect">
            <a:avLst/>
          </a:prstGeom>
          <a:noFill/>
          <a:ln/>
        </p:spPr>
        <p:txBody>
          <a:bodyPr wrap="none" lIns="0" tIns="0" rIns="0" bIns="0" rtlCol="0" anchor="t"/>
          <a:lstStyle/>
          <a:p>
            <a:pPr algn="l" indent="0" marL="0">
              <a:lnSpc>
                <a:spcPct val="104000"/>
              </a:lnSpc>
              <a:buNone/>
            </a:pPr>
            <a:r>
              <a:rPr lang="en-US" sz="1500" spc="-30" kern="0" dirty="0">
                <a:solidFill>
                  <a:srgbClr val="000000"/>
                </a:solidFill>
                <a:latin typeface="Noto Serif Medium" pitchFamily="34" charset="0"/>
                <a:ea typeface="Noto Serif Medium" pitchFamily="34" charset="-122"/>
                <a:cs typeface="Noto Serif Medium" pitchFamily="34" charset="-120"/>
              </a:rPr>
              <a:t>12 Columns</a:t>
            </a:r>
            <a:endParaRPr lang="en-US" sz="1500" dirty="0"/>
          </a:p>
        </p:txBody>
      </p:sp>
      <p:sp>
        <p:nvSpPr>
          <p:cNvPr id="6" name="Text 3"/>
          <p:cNvSpPr/>
          <p:nvPr/>
        </p:nvSpPr>
        <p:spPr>
          <a:xfrm>
            <a:off x="5393198" y="1709142"/>
            <a:ext cx="5977185"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000000"/>
                </a:solidFill>
                <a:latin typeface="Noto Serif" pitchFamily="34" charset="0"/>
                <a:ea typeface="Noto Serif" pitchFamily="34" charset="-122"/>
                <a:cs typeface="Noto Serif" pitchFamily="34" charset="-120"/>
              </a:rPr>
              <a:t>Year, Location, Season, Crop, Area, Rainfall, Temperature, Humidity, Soil Type, Irrigation, Yield, Price</a:t>
            </a:r>
            <a:endParaRPr lang="en-US" sz="1200" dirty="0"/>
          </a:p>
        </p:txBody>
      </p:sp>
      <p:sp>
        <p:nvSpPr>
          <p:cNvPr id="7" name="Shape 4"/>
          <p:cNvSpPr/>
          <p:nvPr/>
        </p:nvSpPr>
        <p:spPr>
          <a:xfrm>
            <a:off x="5233360" y="2438995"/>
            <a:ext cx="6296860" cy="1302345"/>
          </a:xfrm>
          <a:prstGeom prst="roundRect">
            <a:avLst>
              <a:gd name="adj" fmla="val 4953"/>
            </a:avLst>
          </a:prstGeom>
          <a:solidFill>
            <a:srgbClr val="E6DED2">
              <a:alpha val="50000"/>
            </a:srgbClr>
          </a:solidFill>
          <a:ln w="6350">
            <a:solidFill>
              <a:srgbClr val="CCC4B8"/>
            </a:solidFill>
            <a:prstDash val="solid"/>
          </a:ln>
          <a:effectLst>
            <a:outerShdw sx="100000" sy="100000" kx="0" ky="0" algn="bl" rotWithShape="0" blurRad="127" dist="20320" dir="2700000">
              <a:srgbClr val="ccc4b8">
                <a:alpha val="100000"/>
              </a:srgbClr>
            </a:outerShdw>
          </a:effectLst>
        </p:spPr>
      </p:sp>
      <p:sp>
        <p:nvSpPr>
          <p:cNvPr id="8" name="Text 5"/>
          <p:cNvSpPr/>
          <p:nvPr/>
        </p:nvSpPr>
        <p:spPr>
          <a:xfrm>
            <a:off x="5393198" y="2598837"/>
            <a:ext cx="5977185" cy="239911"/>
          </a:xfrm>
          <a:prstGeom prst="rect">
            <a:avLst/>
          </a:prstGeom>
          <a:noFill/>
          <a:ln/>
        </p:spPr>
        <p:txBody>
          <a:bodyPr wrap="none" lIns="0" tIns="0" rIns="0" bIns="0" rtlCol="0" anchor="t"/>
          <a:lstStyle/>
          <a:p>
            <a:pPr algn="l" indent="0" marL="0">
              <a:lnSpc>
                <a:spcPct val="104000"/>
              </a:lnSpc>
              <a:buNone/>
            </a:pPr>
            <a:r>
              <a:rPr lang="en-US" sz="1500" spc="-30" kern="0" dirty="0">
                <a:solidFill>
                  <a:srgbClr val="000000"/>
                </a:solidFill>
                <a:latin typeface="Noto Serif Medium" pitchFamily="34" charset="0"/>
                <a:ea typeface="Noto Serif Medium" pitchFamily="34" charset="-122"/>
                <a:cs typeface="Noto Serif Medium" pitchFamily="34" charset="-120"/>
              </a:rPr>
              <a:t>2004–2019</a:t>
            </a:r>
            <a:endParaRPr lang="en-US" sz="1500" dirty="0"/>
          </a:p>
        </p:txBody>
      </p:sp>
      <p:sp>
        <p:nvSpPr>
          <p:cNvPr id="9" name="Text 6"/>
          <p:cNvSpPr/>
          <p:nvPr/>
        </p:nvSpPr>
        <p:spPr>
          <a:xfrm>
            <a:off x="5393198" y="2913559"/>
            <a:ext cx="5977185" cy="667941"/>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000000"/>
                </a:solidFill>
                <a:latin typeface="Noto Serif" pitchFamily="34" charset="0"/>
                <a:ea typeface="Noto Serif" pitchFamily="34" charset="-122"/>
                <a:cs typeface="Noto Serif" pitchFamily="34" charset="-120"/>
              </a:rPr>
              <a:t>16 years of records across 11 South India locations including Bangalore, Mysuru, Kodagu, Madikeri, Hassan, Mangalore, Chikmangaluru, Davangere, Raichur, Gulbarga, and Kasaragodu</a:t>
            </a:r>
            <a:endParaRPr lang="en-US" sz="1200" dirty="0"/>
          </a:p>
        </p:txBody>
      </p:sp>
      <p:sp>
        <p:nvSpPr>
          <p:cNvPr id="10" name="Shape 7"/>
          <p:cNvSpPr/>
          <p:nvPr/>
        </p:nvSpPr>
        <p:spPr>
          <a:xfrm>
            <a:off x="5233360" y="3866059"/>
            <a:ext cx="6296860" cy="857052"/>
          </a:xfrm>
          <a:prstGeom prst="roundRect">
            <a:avLst>
              <a:gd name="adj" fmla="val 7526"/>
            </a:avLst>
          </a:prstGeom>
          <a:solidFill>
            <a:srgbClr val="E6DED2">
              <a:alpha val="50000"/>
            </a:srgbClr>
          </a:solidFill>
          <a:ln w="6350">
            <a:solidFill>
              <a:srgbClr val="CCC4B8"/>
            </a:solidFill>
            <a:prstDash val="solid"/>
          </a:ln>
          <a:effectLst>
            <a:outerShdw sx="100000" sy="100000" kx="0" ky="0" algn="bl" rotWithShape="0" blurRad="127" dist="20320" dir="2700000">
              <a:srgbClr val="ccc4b8">
                <a:alpha val="100000"/>
              </a:srgbClr>
            </a:outerShdw>
          </a:effectLst>
        </p:spPr>
      </p:sp>
      <p:sp>
        <p:nvSpPr>
          <p:cNvPr id="11" name="Text 8"/>
          <p:cNvSpPr/>
          <p:nvPr/>
        </p:nvSpPr>
        <p:spPr>
          <a:xfrm>
            <a:off x="5393198" y="4025900"/>
            <a:ext cx="5977185" cy="239911"/>
          </a:xfrm>
          <a:prstGeom prst="rect">
            <a:avLst/>
          </a:prstGeom>
          <a:noFill/>
          <a:ln/>
        </p:spPr>
        <p:txBody>
          <a:bodyPr wrap="none" lIns="0" tIns="0" rIns="0" bIns="0" rtlCol="0" anchor="t"/>
          <a:lstStyle/>
          <a:p>
            <a:pPr algn="l" indent="0" marL="0">
              <a:lnSpc>
                <a:spcPct val="104000"/>
              </a:lnSpc>
              <a:buNone/>
            </a:pPr>
            <a:r>
              <a:rPr lang="en-US" sz="1500" spc="-30" kern="0" dirty="0">
                <a:solidFill>
                  <a:srgbClr val="000000"/>
                </a:solidFill>
                <a:latin typeface="Noto Serif Medium" pitchFamily="34" charset="0"/>
                <a:ea typeface="Noto Serif Medium" pitchFamily="34" charset="-122"/>
                <a:cs typeface="Noto Serif Medium" pitchFamily="34" charset="-120"/>
              </a:rPr>
              <a:t>3 Seasons</a:t>
            </a:r>
            <a:endParaRPr lang="en-US" sz="1500" dirty="0"/>
          </a:p>
        </p:txBody>
      </p:sp>
      <p:sp>
        <p:nvSpPr>
          <p:cNvPr id="12" name="Text 9"/>
          <p:cNvSpPr/>
          <p:nvPr/>
        </p:nvSpPr>
        <p:spPr>
          <a:xfrm>
            <a:off x="5393198" y="4340622"/>
            <a:ext cx="5977185" cy="222647"/>
          </a:xfrm>
          <a:prstGeom prst="rect">
            <a:avLst/>
          </a:prstGeom>
          <a:noFill/>
          <a:ln/>
        </p:spPr>
        <p:txBody>
          <a:bodyPr wrap="none" lIns="0" tIns="0" rIns="0" bIns="0" rtlCol="0" anchor="t"/>
          <a:lstStyle/>
          <a:p>
            <a:pPr algn="l" indent="0" marL="0">
              <a:lnSpc>
                <a:spcPct val="121000"/>
              </a:lnSpc>
              <a:buNone/>
            </a:pPr>
            <a:r>
              <a:rPr lang="en-US" sz="1200" dirty="0">
                <a:solidFill>
                  <a:srgbClr val="000000"/>
                </a:solidFill>
                <a:latin typeface="Noto Serif" pitchFamily="34" charset="0"/>
                <a:ea typeface="Noto Serif" pitchFamily="34" charset="-122"/>
                <a:cs typeface="Noto Serif" pitchFamily="34" charset="-120"/>
              </a:rPr>
              <a:t>Rabi, Kharif, and Zaid</a:t>
            </a:r>
            <a:endParaRPr lang="en-US" sz="1200" dirty="0"/>
          </a:p>
        </p:txBody>
      </p:sp>
      <p:sp>
        <p:nvSpPr>
          <p:cNvPr id="13" name="Shape 10"/>
          <p:cNvSpPr/>
          <p:nvPr/>
        </p:nvSpPr>
        <p:spPr>
          <a:xfrm>
            <a:off x="5233360" y="4847828"/>
            <a:ext cx="6296860" cy="1079698"/>
          </a:xfrm>
          <a:prstGeom prst="roundRect">
            <a:avLst>
              <a:gd name="adj" fmla="val 5974"/>
            </a:avLst>
          </a:prstGeom>
          <a:solidFill>
            <a:srgbClr val="E6DED2">
              <a:alpha val="50000"/>
            </a:srgbClr>
          </a:solidFill>
          <a:ln w="6350">
            <a:solidFill>
              <a:srgbClr val="CCC4B8"/>
            </a:solidFill>
            <a:prstDash val="solid"/>
          </a:ln>
          <a:effectLst>
            <a:outerShdw sx="100000" sy="100000" kx="0" ky="0" algn="bl" rotWithShape="0" blurRad="127" dist="20320" dir="2700000">
              <a:srgbClr val="ccc4b8">
                <a:alpha val="100000"/>
              </a:srgbClr>
            </a:outerShdw>
          </a:effectLst>
        </p:spPr>
      </p:sp>
      <p:sp>
        <p:nvSpPr>
          <p:cNvPr id="14" name="Text 11"/>
          <p:cNvSpPr/>
          <p:nvPr/>
        </p:nvSpPr>
        <p:spPr>
          <a:xfrm>
            <a:off x="5393198" y="5007670"/>
            <a:ext cx="5977185" cy="239911"/>
          </a:xfrm>
          <a:prstGeom prst="rect">
            <a:avLst/>
          </a:prstGeom>
          <a:noFill/>
          <a:ln/>
        </p:spPr>
        <p:txBody>
          <a:bodyPr wrap="none" lIns="0" tIns="0" rIns="0" bIns="0" rtlCol="0" anchor="t"/>
          <a:lstStyle/>
          <a:p>
            <a:pPr algn="l" indent="0" marL="0">
              <a:lnSpc>
                <a:spcPct val="104000"/>
              </a:lnSpc>
              <a:buNone/>
            </a:pPr>
            <a:r>
              <a:rPr lang="en-US" sz="1500" spc="-30" kern="0" dirty="0">
                <a:solidFill>
                  <a:srgbClr val="000000"/>
                </a:solidFill>
                <a:latin typeface="Noto Serif Medium" pitchFamily="34" charset="0"/>
                <a:ea typeface="Noto Serif Medium" pitchFamily="34" charset="-122"/>
                <a:cs typeface="Noto Serif Medium" pitchFamily="34" charset="-120"/>
              </a:rPr>
              <a:t>13 Crops</a:t>
            </a:r>
            <a:endParaRPr lang="en-US" sz="1500" dirty="0"/>
          </a:p>
        </p:txBody>
      </p:sp>
      <p:sp>
        <p:nvSpPr>
          <p:cNvPr id="15" name="Text 12"/>
          <p:cNvSpPr/>
          <p:nvPr/>
        </p:nvSpPr>
        <p:spPr>
          <a:xfrm>
            <a:off x="5393198" y="5322391"/>
            <a:ext cx="5977185" cy="445294"/>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000000"/>
                </a:solidFill>
                <a:latin typeface="Noto Serif" pitchFamily="34" charset="0"/>
                <a:ea typeface="Noto Serif" pitchFamily="34" charset="-122"/>
                <a:cs typeface="Noto Serif" pitchFamily="34" charset="-120"/>
              </a:rPr>
              <a:t>Paddy, cotton, coconut, tea, coffee, ginger, pepper, arecanut, cardamom, cashew, cocoa, groundnut, and blackgram</a:t>
            </a:r>
            <a:endParaRPr lang="en-US" sz="1200" dirty="0"/>
          </a:p>
        </p:txBody>
      </p:sp>
      <p:sp>
        <p:nvSpPr>
          <p:cNvPr id="16" name="Text 13"/>
          <p:cNvSpPr/>
          <p:nvPr/>
        </p:nvSpPr>
        <p:spPr>
          <a:xfrm>
            <a:off x="5233360" y="6067822"/>
            <a:ext cx="6906444" cy="222647"/>
          </a:xfrm>
          <a:prstGeom prst="rect">
            <a:avLst/>
          </a:prstGeom>
          <a:noFill/>
          <a:ln/>
        </p:spPr>
        <p:txBody>
          <a:bodyPr wrap="none" lIns="0" tIns="0" rIns="0" bIns="0" rtlCol="0" anchor="t"/>
          <a:lstStyle/>
          <a:p>
            <a:pPr algn="l" indent="0" marL="0">
              <a:lnSpc>
                <a:spcPct val="121000"/>
              </a:lnSpc>
              <a:buNone/>
            </a:pPr>
            <a:r>
              <a:rPr lang="en-US" sz="1200" dirty="0">
                <a:solidFill>
                  <a:srgbClr val="4C4C4C"/>
                </a:solidFill>
                <a:latin typeface="Noto Serif" pitchFamily="34" charset="0"/>
                <a:ea typeface="Noto Serif" pitchFamily="34" charset="-122"/>
                <a:cs typeface="Noto Serif" pitchFamily="34" charset="-120"/>
              </a:rPr>
              <a:t>Rainfall values in the prepared table range from </a:t>
            </a:r>
            <a:pPr algn="l" indent="0" marL="0">
              <a:lnSpc>
                <a:spcPct val="121000"/>
              </a:lnSpc>
              <a:buNone/>
            </a:pPr>
            <a:r>
              <a:rPr lang="en-US" sz="1200" b="1" dirty="0">
                <a:solidFill>
                  <a:srgbClr val="4C4C4C"/>
                </a:solidFill>
                <a:latin typeface="Noto Serif Bold" pitchFamily="34" charset="0"/>
                <a:ea typeface="Noto Serif Bold" pitchFamily="34" charset="-122"/>
                <a:cs typeface="Noto Serif Bold" pitchFamily="34" charset="-120"/>
              </a:rPr>
              <a:t>255 to 4,103</a:t>
            </a:r>
            <a:pPr algn="l" indent="0" marL="0">
              <a:lnSpc>
                <a:spcPct val="121000"/>
              </a:lnSpc>
              <a:buNone/>
            </a:pPr>
            <a:r>
              <a:rPr lang="en-US" sz="1200" dirty="0">
                <a:solidFill>
                  <a:srgbClr val="4C4C4C"/>
                </a:solidFill>
                <a:latin typeface="Noto Serif" pitchFamily="34" charset="0"/>
                <a:ea typeface="Noto Serif" pitchFamily="34" charset="-122"/>
                <a:cs typeface="Noto Serif"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6554"/>
            <a:ext cx="10868745" cy="295275"/>
          </a:xfrm>
          <a:prstGeom prst="rect">
            <a:avLst/>
          </a:prstGeom>
          <a:noFill/>
          <a:ln/>
        </p:spPr>
        <p:txBody>
          <a:bodyPr wrap="none" lIns="0" tIns="0" rIns="0" bIns="0" rtlCol="0" anchor="t"/>
          <a:lstStyle/>
          <a:p>
            <a:pPr algn="l" indent="0" marL="0">
              <a:lnSpc>
                <a:spcPct val="104000"/>
              </a:lnSpc>
              <a:buNone/>
            </a:pPr>
            <a:r>
              <a:rPr lang="en-US" sz="1850" spc="-37" kern="0" dirty="0">
                <a:solidFill>
                  <a:srgbClr val="3A3A3A"/>
                </a:solidFill>
                <a:latin typeface="Noto Serif Medium" pitchFamily="34" charset="0"/>
                <a:ea typeface="Noto Serif Medium" pitchFamily="34" charset="-122"/>
                <a:cs typeface="Noto Serif Medium" pitchFamily="34" charset="-120"/>
              </a:rPr>
              <a:t>Data Loading: AWS S3 → Snowflake</a:t>
            </a:r>
            <a:endParaRPr lang="en-US" sz="1850" dirty="0"/>
          </a:p>
        </p:txBody>
      </p:sp>
      <p:pic>
        <p:nvPicPr>
          <p:cNvPr id="3" name="Image 0" descr="preencoded.png">    </p:cNvPr>
          <p:cNvPicPr>
            <a:picLocks noChangeAspect="1"/>
          </p:cNvPicPr>
          <p:nvPr/>
        </p:nvPicPr>
        <p:blipFill>
          <a:blip r:embed="rId1"/>
          <a:stretch>
            <a:fillRect/>
          </a:stretch>
        </p:blipFill>
        <p:spPr>
          <a:xfrm>
            <a:off x="661475" y="945753"/>
            <a:ext cx="6983932" cy="3957638"/>
          </a:xfrm>
          <a:prstGeom prst="rect">
            <a:avLst/>
          </a:prstGeom>
        </p:spPr>
      </p:pic>
      <p:sp>
        <p:nvSpPr>
          <p:cNvPr id="4" name="Text 1"/>
          <p:cNvSpPr/>
          <p:nvPr/>
        </p:nvSpPr>
        <p:spPr>
          <a:xfrm>
            <a:off x="7882336" y="2733179"/>
            <a:ext cx="3654135" cy="382687"/>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4C4C4C"/>
                </a:solidFill>
                <a:latin typeface="Noto Serif" pitchFamily="34" charset="0"/>
                <a:ea typeface="Noto Serif" pitchFamily="34" charset="-122"/>
                <a:cs typeface="Noto Serif" pitchFamily="34" charset="-120"/>
              </a:rPr>
              <a:t>The CSV was stored in AWS S3 and loaded into Snowflake through five steps:</a:t>
            </a:r>
            <a:endParaRPr lang="en-US" sz="700" dirty="0"/>
          </a:p>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Result: the raw data now sits in the Snowflake table </a:t>
            </a:r>
            <a:pPr algn="l" indent="0" marL="0">
              <a:lnSpc>
                <a:spcPct val="100000"/>
              </a:lnSpc>
              <a:buNone/>
            </a:pPr>
            <a:r>
              <a:rPr lang="en-US" sz="700" b="1" dirty="0">
                <a:solidFill>
                  <a:srgbClr val="4C4C4C"/>
                </a:solidFill>
                <a:latin typeface="Noto Serif Bold" pitchFamily="34" charset="0"/>
                <a:ea typeface="Noto Serif Bold" pitchFamily="34" charset="-122"/>
                <a:cs typeface="Noto Serif Bold" pitchFamily="34" charset="-120"/>
              </a:rPr>
              <a:t>PBI_Dataset</a:t>
            </a:r>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 which is kept unchanged.</a:t>
            </a:r>
            <a:endParaRPr lang="en-US" sz="700" dirty="0"/>
          </a:p>
        </p:txBody>
      </p:sp>
      <p:sp>
        <p:nvSpPr>
          <p:cNvPr id="5" name="Text 2"/>
          <p:cNvSpPr/>
          <p:nvPr/>
        </p:nvSpPr>
        <p:spPr>
          <a:xfrm>
            <a:off x="661475" y="5009555"/>
            <a:ext cx="189007" cy="118070"/>
          </a:xfrm>
          <a:prstGeom prst="rect">
            <a:avLst/>
          </a:prstGeom>
          <a:noFill/>
          <a:ln/>
        </p:spPr>
        <p:txBody>
          <a:bodyPr wrap="none" lIns="0" tIns="0" rIns="0" bIns="0" rtlCol="0" anchor="ctr"/>
          <a:lstStyle/>
          <a:p>
            <a:pPr algn="l" indent="0" marL="0">
              <a:lnSpc>
                <a:spcPct val="100000"/>
              </a:lnSpc>
              <a:buNone/>
            </a:pPr>
            <a:r>
              <a:rPr lang="en-US" sz="700" spc="-15" kern="0" dirty="0">
                <a:solidFill>
                  <a:srgbClr val="4C4C4C"/>
                </a:solidFill>
                <a:latin typeface="Noto Serif Light" pitchFamily="34" charset="0"/>
                <a:ea typeface="Noto Serif Light" pitchFamily="34" charset="-122"/>
                <a:cs typeface="Noto Serif Light" pitchFamily="34" charset="-120"/>
              </a:rPr>
              <a:t>01</a:t>
            </a:r>
            <a:endParaRPr lang="en-US" sz="700" dirty="0"/>
          </a:p>
        </p:txBody>
      </p:sp>
      <p:sp>
        <p:nvSpPr>
          <p:cNvPr id="6" name="Shape 3"/>
          <p:cNvSpPr/>
          <p:nvPr/>
        </p:nvSpPr>
        <p:spPr>
          <a:xfrm>
            <a:off x="661475" y="5157391"/>
            <a:ext cx="3591430" cy="12700"/>
          </a:xfrm>
          <a:prstGeom prst="rect">
            <a:avLst/>
          </a:prstGeom>
          <a:solidFill>
            <a:srgbClr val="E6DED2"/>
          </a:solidFill>
          <a:ln/>
        </p:spPr>
      </p:sp>
      <p:sp>
        <p:nvSpPr>
          <p:cNvPr id="7" name="Text 4"/>
          <p:cNvSpPr/>
          <p:nvPr/>
        </p:nvSpPr>
        <p:spPr>
          <a:xfrm>
            <a:off x="661475" y="5230019"/>
            <a:ext cx="3591430"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Storage Integration</a:t>
            </a:r>
            <a:endParaRPr lang="en-US" sz="900" dirty="0"/>
          </a:p>
        </p:txBody>
      </p:sp>
      <p:sp>
        <p:nvSpPr>
          <p:cNvPr id="8" name="Text 5"/>
          <p:cNvSpPr/>
          <p:nvPr/>
        </p:nvSpPr>
        <p:spPr>
          <a:xfrm>
            <a:off x="661475" y="5405934"/>
            <a:ext cx="3591430" cy="226814"/>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PBI_Integration links Snowflake to an AWS IAM role and the allowed S3 location</a:t>
            </a:r>
            <a:endParaRPr lang="en-US" sz="700" dirty="0"/>
          </a:p>
        </p:txBody>
      </p:sp>
      <p:sp>
        <p:nvSpPr>
          <p:cNvPr id="9" name="Text 6"/>
          <p:cNvSpPr/>
          <p:nvPr/>
        </p:nvSpPr>
        <p:spPr>
          <a:xfrm>
            <a:off x="4300132" y="5009555"/>
            <a:ext cx="189007" cy="118070"/>
          </a:xfrm>
          <a:prstGeom prst="rect">
            <a:avLst/>
          </a:prstGeom>
          <a:noFill/>
          <a:ln/>
        </p:spPr>
        <p:txBody>
          <a:bodyPr wrap="none" lIns="0" tIns="0" rIns="0" bIns="0" rtlCol="0" anchor="ctr"/>
          <a:lstStyle/>
          <a:p>
            <a:pPr algn="l" indent="0" marL="0">
              <a:lnSpc>
                <a:spcPct val="100000"/>
              </a:lnSpc>
              <a:buNone/>
            </a:pPr>
            <a:r>
              <a:rPr lang="en-US" sz="700" spc="-15" kern="0" dirty="0">
                <a:solidFill>
                  <a:srgbClr val="4C4C4C"/>
                </a:solidFill>
                <a:latin typeface="Noto Serif Light" pitchFamily="34" charset="0"/>
                <a:ea typeface="Noto Serif Light" pitchFamily="34" charset="-122"/>
                <a:cs typeface="Noto Serif Light" pitchFamily="34" charset="-120"/>
              </a:rPr>
              <a:t>02</a:t>
            </a:r>
            <a:endParaRPr lang="en-US" sz="700" dirty="0"/>
          </a:p>
        </p:txBody>
      </p:sp>
      <p:sp>
        <p:nvSpPr>
          <p:cNvPr id="10" name="Shape 7"/>
          <p:cNvSpPr/>
          <p:nvPr/>
        </p:nvSpPr>
        <p:spPr>
          <a:xfrm>
            <a:off x="4300132" y="5157391"/>
            <a:ext cx="3591430" cy="12700"/>
          </a:xfrm>
          <a:prstGeom prst="rect">
            <a:avLst/>
          </a:prstGeom>
          <a:solidFill>
            <a:srgbClr val="E6DED2"/>
          </a:solidFill>
          <a:ln/>
        </p:spPr>
      </p:sp>
      <p:sp>
        <p:nvSpPr>
          <p:cNvPr id="11" name="Text 8"/>
          <p:cNvSpPr/>
          <p:nvPr/>
        </p:nvSpPr>
        <p:spPr>
          <a:xfrm>
            <a:off x="4300132" y="5230019"/>
            <a:ext cx="3591430"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External Stage</a:t>
            </a:r>
            <a:endParaRPr lang="en-US" sz="900" dirty="0"/>
          </a:p>
        </p:txBody>
      </p:sp>
      <p:sp>
        <p:nvSpPr>
          <p:cNvPr id="12" name="Text 9"/>
          <p:cNvSpPr/>
          <p:nvPr/>
        </p:nvSpPr>
        <p:spPr>
          <a:xfrm>
            <a:off x="4300132" y="5405934"/>
            <a:ext cx="3591430" cy="113407"/>
          </a:xfrm>
          <a:prstGeom prst="rect">
            <a:avLst/>
          </a:prstGeom>
          <a:noFill/>
          <a:ln/>
        </p:spPr>
        <p:txBody>
          <a:bodyPr wrap="none" lIns="0" tIns="0" rIns="0" bIns="0" rtlCol="0" anchor="t"/>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pbi_stage shortcut inside Snowflake pointing to the S3 bucket</a:t>
            </a:r>
            <a:endParaRPr lang="en-US" sz="700" dirty="0"/>
          </a:p>
        </p:txBody>
      </p:sp>
      <p:sp>
        <p:nvSpPr>
          <p:cNvPr id="13" name="Text 10"/>
          <p:cNvSpPr/>
          <p:nvPr/>
        </p:nvSpPr>
        <p:spPr>
          <a:xfrm>
            <a:off x="7938790" y="5009555"/>
            <a:ext cx="189007" cy="118070"/>
          </a:xfrm>
          <a:prstGeom prst="rect">
            <a:avLst/>
          </a:prstGeom>
          <a:noFill/>
          <a:ln/>
        </p:spPr>
        <p:txBody>
          <a:bodyPr wrap="none" lIns="0" tIns="0" rIns="0" bIns="0" rtlCol="0" anchor="ctr"/>
          <a:lstStyle/>
          <a:p>
            <a:pPr algn="l" indent="0" marL="0">
              <a:lnSpc>
                <a:spcPct val="100000"/>
              </a:lnSpc>
              <a:buNone/>
            </a:pPr>
            <a:r>
              <a:rPr lang="en-US" sz="700" spc="-15" kern="0" dirty="0">
                <a:solidFill>
                  <a:srgbClr val="4C4C4C"/>
                </a:solidFill>
                <a:latin typeface="Noto Serif Light" pitchFamily="34" charset="0"/>
                <a:ea typeface="Noto Serif Light" pitchFamily="34" charset="-122"/>
                <a:cs typeface="Noto Serif Light" pitchFamily="34" charset="-120"/>
              </a:rPr>
              <a:t>03</a:t>
            </a:r>
            <a:endParaRPr lang="en-US" sz="700" dirty="0"/>
          </a:p>
        </p:txBody>
      </p:sp>
      <p:sp>
        <p:nvSpPr>
          <p:cNvPr id="14" name="Shape 11"/>
          <p:cNvSpPr/>
          <p:nvPr/>
        </p:nvSpPr>
        <p:spPr>
          <a:xfrm>
            <a:off x="7938790" y="5157391"/>
            <a:ext cx="3591430" cy="12700"/>
          </a:xfrm>
          <a:prstGeom prst="rect">
            <a:avLst/>
          </a:prstGeom>
          <a:solidFill>
            <a:srgbClr val="E6DED2"/>
          </a:solidFill>
          <a:ln/>
        </p:spPr>
      </p:sp>
      <p:sp>
        <p:nvSpPr>
          <p:cNvPr id="15" name="Text 12"/>
          <p:cNvSpPr/>
          <p:nvPr/>
        </p:nvSpPr>
        <p:spPr>
          <a:xfrm>
            <a:off x="7938790" y="5230019"/>
            <a:ext cx="3591430"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Database &amp; Table</a:t>
            </a:r>
            <a:endParaRPr lang="en-US" sz="900" dirty="0"/>
          </a:p>
        </p:txBody>
      </p:sp>
      <p:sp>
        <p:nvSpPr>
          <p:cNvPr id="16" name="Text 13"/>
          <p:cNvSpPr/>
          <p:nvPr/>
        </p:nvSpPr>
        <p:spPr>
          <a:xfrm>
            <a:off x="7938790" y="5405934"/>
            <a:ext cx="3591430" cy="226814"/>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Created PowerBI database, PBI_Data schema, and PBI_Dataset table with 12 columns</a:t>
            </a:r>
            <a:endParaRPr lang="en-US" sz="700" dirty="0"/>
          </a:p>
        </p:txBody>
      </p:sp>
      <p:sp>
        <p:nvSpPr>
          <p:cNvPr id="17" name="Text 14"/>
          <p:cNvSpPr/>
          <p:nvPr/>
        </p:nvSpPr>
        <p:spPr>
          <a:xfrm>
            <a:off x="661475" y="5750818"/>
            <a:ext cx="189007" cy="118070"/>
          </a:xfrm>
          <a:prstGeom prst="rect">
            <a:avLst/>
          </a:prstGeom>
          <a:noFill/>
          <a:ln/>
        </p:spPr>
        <p:txBody>
          <a:bodyPr wrap="none" lIns="0" tIns="0" rIns="0" bIns="0" rtlCol="0" anchor="ctr"/>
          <a:lstStyle/>
          <a:p>
            <a:pPr algn="l" indent="0" marL="0">
              <a:lnSpc>
                <a:spcPct val="100000"/>
              </a:lnSpc>
              <a:buNone/>
            </a:pPr>
            <a:r>
              <a:rPr lang="en-US" sz="700" spc="-15" kern="0" dirty="0">
                <a:solidFill>
                  <a:srgbClr val="4C4C4C"/>
                </a:solidFill>
                <a:latin typeface="Noto Serif Light" pitchFamily="34" charset="0"/>
                <a:ea typeface="Noto Serif Light" pitchFamily="34" charset="-122"/>
                <a:cs typeface="Noto Serif Light" pitchFamily="34" charset="-120"/>
              </a:rPr>
              <a:t>04</a:t>
            </a:r>
            <a:endParaRPr lang="en-US" sz="700" dirty="0"/>
          </a:p>
        </p:txBody>
      </p:sp>
      <p:sp>
        <p:nvSpPr>
          <p:cNvPr id="18" name="Shape 15"/>
          <p:cNvSpPr/>
          <p:nvPr/>
        </p:nvSpPr>
        <p:spPr>
          <a:xfrm>
            <a:off x="661475" y="5898654"/>
            <a:ext cx="5410759" cy="12700"/>
          </a:xfrm>
          <a:prstGeom prst="rect">
            <a:avLst/>
          </a:prstGeom>
          <a:solidFill>
            <a:srgbClr val="E6DED2"/>
          </a:solidFill>
          <a:ln/>
        </p:spPr>
      </p:sp>
      <p:sp>
        <p:nvSpPr>
          <p:cNvPr id="19" name="Text 16"/>
          <p:cNvSpPr/>
          <p:nvPr/>
        </p:nvSpPr>
        <p:spPr>
          <a:xfrm>
            <a:off x="661475" y="5971282"/>
            <a:ext cx="5410759"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COPY INTO</a:t>
            </a:r>
            <a:endParaRPr lang="en-US" sz="900" dirty="0"/>
          </a:p>
        </p:txBody>
      </p:sp>
      <p:sp>
        <p:nvSpPr>
          <p:cNvPr id="20" name="Text 17"/>
          <p:cNvSpPr/>
          <p:nvPr/>
        </p:nvSpPr>
        <p:spPr>
          <a:xfrm>
            <a:off x="661475" y="6147197"/>
            <a:ext cx="5410759" cy="113407"/>
          </a:xfrm>
          <a:prstGeom prst="rect">
            <a:avLst/>
          </a:prstGeom>
          <a:noFill/>
          <a:ln/>
        </p:spPr>
        <p:txBody>
          <a:bodyPr wrap="none" lIns="0" tIns="0" rIns="0" bIns="0" rtlCol="0" anchor="t"/>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Loaded CSV into PBI_Dataset (comma delimited, header row skipped, rows with errors skipped)</a:t>
            </a:r>
            <a:endParaRPr lang="en-US" sz="700" dirty="0"/>
          </a:p>
        </p:txBody>
      </p:sp>
      <p:sp>
        <p:nvSpPr>
          <p:cNvPr id="21" name="Text 18"/>
          <p:cNvSpPr/>
          <p:nvPr/>
        </p:nvSpPr>
        <p:spPr>
          <a:xfrm>
            <a:off x="6119461" y="5750818"/>
            <a:ext cx="189007" cy="118070"/>
          </a:xfrm>
          <a:prstGeom prst="rect">
            <a:avLst/>
          </a:prstGeom>
          <a:noFill/>
          <a:ln/>
        </p:spPr>
        <p:txBody>
          <a:bodyPr wrap="none" lIns="0" tIns="0" rIns="0" bIns="0" rtlCol="0" anchor="ctr"/>
          <a:lstStyle/>
          <a:p>
            <a:pPr algn="l" indent="0" marL="0">
              <a:lnSpc>
                <a:spcPct val="100000"/>
              </a:lnSpc>
              <a:buNone/>
            </a:pPr>
            <a:r>
              <a:rPr lang="en-US" sz="700" spc="-15" kern="0" dirty="0">
                <a:solidFill>
                  <a:srgbClr val="4C4C4C"/>
                </a:solidFill>
                <a:latin typeface="Noto Serif Light" pitchFamily="34" charset="0"/>
                <a:ea typeface="Noto Serif Light" pitchFamily="34" charset="-122"/>
                <a:cs typeface="Noto Serif Light" pitchFamily="34" charset="-120"/>
              </a:rPr>
              <a:t>05</a:t>
            </a:r>
            <a:endParaRPr lang="en-US" sz="700" dirty="0"/>
          </a:p>
        </p:txBody>
      </p:sp>
      <p:sp>
        <p:nvSpPr>
          <p:cNvPr id="22" name="Shape 19"/>
          <p:cNvSpPr/>
          <p:nvPr/>
        </p:nvSpPr>
        <p:spPr>
          <a:xfrm>
            <a:off x="6119461" y="5898654"/>
            <a:ext cx="5410759" cy="12700"/>
          </a:xfrm>
          <a:prstGeom prst="rect">
            <a:avLst/>
          </a:prstGeom>
          <a:solidFill>
            <a:srgbClr val="E6DED2"/>
          </a:solidFill>
          <a:ln/>
        </p:spPr>
      </p:sp>
      <p:sp>
        <p:nvSpPr>
          <p:cNvPr id="23" name="Text 20"/>
          <p:cNvSpPr/>
          <p:nvPr/>
        </p:nvSpPr>
        <p:spPr>
          <a:xfrm>
            <a:off x="6119461" y="5971282"/>
            <a:ext cx="5410759"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Load Check</a:t>
            </a:r>
            <a:endParaRPr lang="en-US" sz="900" dirty="0"/>
          </a:p>
        </p:txBody>
      </p:sp>
      <p:sp>
        <p:nvSpPr>
          <p:cNvPr id="24" name="Text 21"/>
          <p:cNvSpPr/>
          <p:nvPr/>
        </p:nvSpPr>
        <p:spPr>
          <a:xfrm>
            <a:off x="6119461" y="6147197"/>
            <a:ext cx="5410759" cy="113407"/>
          </a:xfrm>
          <a:prstGeom prst="rect">
            <a:avLst/>
          </a:prstGeom>
          <a:noFill/>
          <a:ln/>
        </p:spPr>
        <p:txBody>
          <a:bodyPr wrap="none" lIns="0" tIns="0" rIns="0" bIns="0" rtlCol="0" anchor="t"/>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Counted rows per year to confirm data loaded for every year</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spc="-37" kern="0" dirty="0">
                <a:solidFill>
                  <a:srgbClr val="3A3A3A"/>
                </a:solidFill>
                <a:latin typeface="Noto Serif Medium" pitchFamily="34" charset="0"/>
                <a:ea typeface="Noto Serif Medium" pitchFamily="34" charset="-122"/>
                <a:cs typeface="Noto Serif Medium" pitchFamily="34" charset="-120"/>
              </a:rPr>
              <a:t>Data Preparation: SQL Transformations</a:t>
            </a:r>
            <a:endParaRPr lang="en-US" sz="1850" dirty="0"/>
          </a:p>
        </p:txBody>
      </p:sp>
      <p:sp>
        <p:nvSpPr>
          <p:cNvPr id="3" name="Text 1"/>
          <p:cNvSpPr/>
          <p:nvPr/>
        </p:nvSpPr>
        <p:spPr>
          <a:xfrm>
            <a:off x="661475" y="3485158"/>
            <a:ext cx="5319083" cy="226814"/>
          </a:xfrm>
          <a:prstGeom prst="rect">
            <a:avLst/>
          </a:prstGeom>
          <a:noFill/>
          <a:ln/>
        </p:spPr>
        <p:txBody>
          <a:bodyPr wrap="square" lIns="0" tIns="0" rIns="0" bIns="0" rtlCol="0" anchor="t">
            <a:normAutofit/>
          </a:bodyPr>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A working copy table (</a:t>
            </a:r>
            <a:pPr algn="l" indent="0" marL="0">
              <a:lnSpc>
                <a:spcPct val="100000"/>
              </a:lnSpc>
              <a:buNone/>
            </a:pPr>
            <a:r>
              <a:rPr lang="en-US" sz="700" b="1" dirty="0">
                <a:solidFill>
                  <a:srgbClr val="4C4C4C"/>
                </a:solidFill>
                <a:latin typeface="Noto Serif Bold" pitchFamily="34" charset="0"/>
                <a:ea typeface="Noto Serif Bold" pitchFamily="34" charset="-122"/>
                <a:cs typeface="Noto Serif Bold" pitchFamily="34" charset="-120"/>
              </a:rPr>
              <a:t>agriculture</a:t>
            </a:r>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 was created so the raw table stays untouched. Values were adjusted: rainfall multiplied by </a:t>
            </a:r>
            <a:pPr algn="l" indent="0" marL="0">
              <a:lnSpc>
                <a:spcPct val="100000"/>
              </a:lnSpc>
              <a:buNone/>
            </a:pPr>
            <a:r>
              <a:rPr lang="en-US" sz="700" b="1" dirty="0">
                <a:solidFill>
                  <a:srgbClr val="4C4C4C"/>
                </a:solidFill>
                <a:latin typeface="Noto Serif Bold" pitchFamily="34" charset="0"/>
                <a:ea typeface="Noto Serif Bold" pitchFamily="34" charset="-122"/>
                <a:cs typeface="Noto Serif Bold" pitchFamily="34" charset="-120"/>
              </a:rPr>
              <a:t>1.1</a:t>
            </a:r>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 and area multiplied by </a:t>
            </a:r>
            <a:pPr algn="l" indent="0" marL="0">
              <a:lnSpc>
                <a:spcPct val="100000"/>
              </a:lnSpc>
              <a:buNone/>
            </a:pPr>
            <a:r>
              <a:rPr lang="en-US" sz="700" b="1" dirty="0">
                <a:solidFill>
                  <a:srgbClr val="4C4C4C"/>
                </a:solidFill>
                <a:latin typeface="Noto Serif Bold" pitchFamily="34" charset="0"/>
                <a:ea typeface="Noto Serif Bold" pitchFamily="34" charset="-122"/>
                <a:cs typeface="Noto Serif Bold" pitchFamily="34" charset="-120"/>
              </a:rPr>
              <a:t>0.9</a:t>
            </a:r>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 Two new grouping columns were added:</a:t>
            </a:r>
            <a:endParaRPr lang="en-US" sz="700" dirty="0"/>
          </a:p>
        </p:txBody>
      </p:sp>
      <p:pic>
        <p:nvPicPr>
          <p:cNvPr id="4" name="Image 0" descr="preencoded.png">    </p:cNvPr>
          <p:cNvPicPr>
            <a:picLocks noChangeAspect="1"/>
          </p:cNvPicPr>
          <p:nvPr/>
        </p:nvPicPr>
        <p:blipFill>
          <a:blip r:embed="rId1"/>
          <a:stretch>
            <a:fillRect/>
          </a:stretch>
        </p:blipFill>
        <p:spPr>
          <a:xfrm>
            <a:off x="6217487" y="939006"/>
            <a:ext cx="5319083" cy="5319216"/>
          </a:xfrm>
          <a:prstGeom prst="rect">
            <a:avLst/>
          </a:prstGeom>
        </p:spPr>
      </p:pic>
      <p:sp>
        <p:nvSpPr>
          <p:cNvPr id="5" name="Shape 2"/>
          <p:cNvSpPr/>
          <p:nvPr/>
        </p:nvSpPr>
        <p:spPr>
          <a:xfrm>
            <a:off x="661475" y="6364387"/>
            <a:ext cx="5410759" cy="503634"/>
          </a:xfrm>
          <a:prstGeom prst="roundRect">
            <a:avLst>
              <a:gd name="adj" fmla="val 7881"/>
            </a:avLst>
          </a:prstGeom>
          <a:solidFill>
            <a:srgbClr val="FDFBF7"/>
          </a:solidFill>
          <a:ln w="12700">
            <a:solidFill>
              <a:srgbClr val="E6DED2"/>
            </a:solidFill>
            <a:prstDash val="solid"/>
          </a:ln>
          <a:effectLst>
            <a:outerShdw sx="100000" sy="100000" kx="0" ky="0" algn="bl" rotWithShape="0" blurRad="127" dist="11430" dir="2700000">
              <a:srgbClr val="e6ded2">
                <a:alpha val="100000"/>
              </a:srgbClr>
            </a:outerShdw>
          </a:effectLst>
        </p:spPr>
      </p:sp>
      <p:sp>
        <p:nvSpPr>
          <p:cNvPr id="6" name="Text 3"/>
          <p:cNvSpPr/>
          <p:nvPr/>
        </p:nvSpPr>
        <p:spPr>
          <a:xfrm>
            <a:off x="768628" y="6471543"/>
            <a:ext cx="5196452"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Year_Group</a:t>
            </a:r>
            <a:endParaRPr lang="en-US" sz="900" dirty="0"/>
          </a:p>
        </p:txBody>
      </p:sp>
      <p:sp>
        <p:nvSpPr>
          <p:cNvPr id="7" name="Text 4"/>
          <p:cNvSpPr/>
          <p:nvPr/>
        </p:nvSpPr>
        <p:spPr>
          <a:xfrm>
            <a:off x="768628" y="6647458"/>
            <a:ext cx="5196452" cy="113407"/>
          </a:xfrm>
          <a:prstGeom prst="rect">
            <a:avLst/>
          </a:prstGeom>
          <a:noFill/>
          <a:ln/>
        </p:spPr>
        <p:txBody>
          <a:bodyPr wrap="none" lIns="0" tIns="0" rIns="0" bIns="0" rtlCol="0" anchor="t"/>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Y1: 2004–2009 · Y2: 2010–2015 · Y3: 2016–2019</a:t>
            </a:r>
            <a:endParaRPr lang="en-US" sz="700" dirty="0"/>
          </a:p>
        </p:txBody>
      </p:sp>
      <p:sp>
        <p:nvSpPr>
          <p:cNvPr id="8" name="Shape 5"/>
          <p:cNvSpPr/>
          <p:nvPr/>
        </p:nvSpPr>
        <p:spPr>
          <a:xfrm>
            <a:off x="6119461" y="6364387"/>
            <a:ext cx="5410759" cy="503634"/>
          </a:xfrm>
          <a:prstGeom prst="roundRect">
            <a:avLst>
              <a:gd name="adj" fmla="val 7881"/>
            </a:avLst>
          </a:prstGeom>
          <a:solidFill>
            <a:srgbClr val="FDFBF7"/>
          </a:solidFill>
          <a:ln w="12700">
            <a:solidFill>
              <a:srgbClr val="E6DED2"/>
            </a:solidFill>
            <a:prstDash val="solid"/>
          </a:ln>
          <a:effectLst>
            <a:outerShdw sx="100000" sy="100000" kx="0" ky="0" algn="bl" rotWithShape="0" blurRad="127" dist="11430" dir="2700000">
              <a:srgbClr val="e6ded2">
                <a:alpha val="100000"/>
              </a:srgbClr>
            </a:outerShdw>
          </a:effectLst>
        </p:spPr>
      </p:sp>
      <p:sp>
        <p:nvSpPr>
          <p:cNvPr id="9" name="Text 6"/>
          <p:cNvSpPr/>
          <p:nvPr/>
        </p:nvSpPr>
        <p:spPr>
          <a:xfrm>
            <a:off x="6226615" y="6471543"/>
            <a:ext cx="5196452" cy="147638"/>
          </a:xfrm>
          <a:prstGeom prst="rect">
            <a:avLst/>
          </a:prstGeom>
          <a:noFill/>
          <a:ln/>
        </p:spPr>
        <p:txBody>
          <a:bodyPr wrap="none" lIns="0" tIns="0" rIns="0" bIns="0" rtlCol="0" anchor="t"/>
          <a:lstStyle/>
          <a:p>
            <a:pPr algn="l" indent="0" marL="0">
              <a:lnSpc>
                <a:spcPct val="104000"/>
              </a:lnSpc>
              <a:buNone/>
            </a:pPr>
            <a:r>
              <a:rPr lang="en-US" sz="900" spc="-19" kern="0" dirty="0">
                <a:solidFill>
                  <a:srgbClr val="4C4C4C"/>
                </a:solidFill>
                <a:latin typeface="Noto Serif Medium" pitchFamily="34" charset="0"/>
                <a:ea typeface="Noto Serif Medium" pitchFamily="34" charset="-122"/>
                <a:cs typeface="Noto Serif Medium" pitchFamily="34" charset="-120"/>
              </a:rPr>
              <a:t>Rainfall_Groups</a:t>
            </a:r>
            <a:endParaRPr lang="en-US" sz="900" dirty="0"/>
          </a:p>
        </p:txBody>
      </p:sp>
      <p:sp>
        <p:nvSpPr>
          <p:cNvPr id="10" name="Text 7"/>
          <p:cNvSpPr/>
          <p:nvPr/>
        </p:nvSpPr>
        <p:spPr>
          <a:xfrm>
            <a:off x="6226615" y="6647458"/>
            <a:ext cx="5196452" cy="113407"/>
          </a:xfrm>
          <a:prstGeom prst="rect">
            <a:avLst/>
          </a:prstGeom>
          <a:noFill/>
          <a:ln/>
        </p:spPr>
        <p:txBody>
          <a:bodyPr wrap="none" lIns="0" tIns="0" rIns="0" bIns="0" rtlCol="0" anchor="t"/>
          <a:lstStyle/>
          <a:p>
            <a:pPr algn="l" indent="0" marL="0">
              <a:lnSpc>
                <a:spcPct val="100000"/>
              </a:lnSpc>
              <a:buNone/>
            </a:pPr>
            <a:r>
              <a:rPr lang="en-US" sz="700" dirty="0">
                <a:solidFill>
                  <a:srgbClr val="4C4C4C"/>
                </a:solidFill>
                <a:latin typeface="Noto Serif" pitchFamily="34" charset="0"/>
                <a:ea typeface="Noto Serif" pitchFamily="34" charset="-122"/>
                <a:cs typeface="Noto Serif" pitchFamily="34" charset="-120"/>
              </a:rPr>
              <a:t>Low: 255–1,200 · Medium: 1,200–2,800 · High: 2,800+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600174"/>
            <a:ext cx="1447764" cy="260152"/>
          </a:xfrm>
          <a:prstGeom prst="roundRect">
            <a:avLst>
              <a:gd name="adj" fmla="val 22124"/>
            </a:avLst>
          </a:prstGeom>
          <a:solidFill>
            <a:srgbClr val="E8E6E3"/>
          </a:solidFill>
          <a:ln/>
        </p:spPr>
      </p:sp>
      <p:sp>
        <p:nvSpPr>
          <p:cNvPr id="4" name="Text 1"/>
          <p:cNvSpPr/>
          <p:nvPr/>
        </p:nvSpPr>
        <p:spPr>
          <a:xfrm>
            <a:off x="764164" y="651470"/>
            <a:ext cx="1851971" cy="157559"/>
          </a:xfrm>
          <a:prstGeom prst="rect">
            <a:avLst/>
          </a:prstGeom>
          <a:noFill/>
          <a:ln/>
        </p:spPr>
        <p:txBody>
          <a:bodyPr wrap="none" lIns="0" tIns="0" rIns="0" bIns="0" rtlCol="0" anchor="t"/>
          <a:lstStyle/>
          <a:p>
            <a:pPr algn="l" indent="0" marL="0">
              <a:lnSpc>
                <a:spcPct val="96000"/>
              </a:lnSpc>
              <a:buNone/>
            </a:pPr>
            <a:r>
              <a:rPr lang="en-US" sz="1050" dirty="0">
                <a:solidFill>
                  <a:srgbClr val="4C4C4C"/>
                </a:solidFill>
                <a:latin typeface="Noto Serif" pitchFamily="34" charset="0"/>
                <a:ea typeface="Noto Serif" pitchFamily="34" charset="-122"/>
                <a:cs typeface="Noto Serif" pitchFamily="34" charset="-120"/>
              </a:rPr>
              <a:t>POWER BI REPORT</a:t>
            </a:r>
            <a:endParaRPr lang="en-US" sz="1050" dirty="0"/>
          </a:p>
        </p:txBody>
      </p:sp>
      <p:sp>
        <p:nvSpPr>
          <p:cNvPr id="5" name="Text 2"/>
          <p:cNvSpPr/>
          <p:nvPr/>
        </p:nvSpPr>
        <p:spPr>
          <a:xfrm>
            <a:off x="661475" y="922338"/>
            <a:ext cx="6296860" cy="535285"/>
          </a:xfrm>
          <a:prstGeom prst="rect">
            <a:avLst/>
          </a:prstGeom>
          <a:noFill/>
          <a:ln/>
        </p:spPr>
        <p:txBody>
          <a:bodyPr wrap="none" lIns="0" tIns="0" rIns="0" bIns="0" rtlCol="0" anchor="t"/>
          <a:lstStyle/>
          <a:p>
            <a:pPr algn="l" indent="0" marL="0">
              <a:lnSpc>
                <a:spcPct val="104000"/>
              </a:lnSpc>
              <a:buNone/>
            </a:pPr>
            <a:r>
              <a:rPr lang="en-US" sz="3350" spc="-67" kern="0" dirty="0">
                <a:solidFill>
                  <a:srgbClr val="3A3A3A"/>
                </a:solidFill>
                <a:latin typeface="Noto Serif Medium" pitchFamily="34" charset="0"/>
                <a:ea typeface="Noto Serif Medium" pitchFamily="34" charset="-122"/>
                <a:cs typeface="Noto Serif Medium" pitchFamily="34" charset="-120"/>
              </a:rPr>
              <a:t>4-Page Dashboard Architecture</a:t>
            </a:r>
            <a:endParaRPr lang="en-US" sz="3350" dirty="0"/>
          </a:p>
        </p:txBody>
      </p:sp>
      <p:sp>
        <p:nvSpPr>
          <p:cNvPr id="6" name="Text 3"/>
          <p:cNvSpPr/>
          <p:nvPr/>
        </p:nvSpPr>
        <p:spPr>
          <a:xfrm>
            <a:off x="661475" y="1690390"/>
            <a:ext cx="6296860" cy="52248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4C4C4C"/>
                </a:solidFill>
                <a:latin typeface="Noto Serif" pitchFamily="34" charset="0"/>
                <a:ea typeface="Noto Serif" pitchFamily="34" charset="-122"/>
                <a:cs typeface="Noto Serif" pitchFamily="34" charset="-120"/>
              </a:rPr>
              <a:t>Every page has four bar charts: average by Year, by Season, by Crop, and by Location. The report was published to Power BI Service.</a:t>
            </a:r>
            <a:endParaRPr lang="en-US" sz="1300" dirty="0"/>
          </a:p>
        </p:txBody>
      </p:sp>
      <p:sp>
        <p:nvSpPr>
          <p:cNvPr id="7" name="Shape 4"/>
          <p:cNvSpPr/>
          <p:nvPr/>
        </p:nvSpPr>
        <p:spPr>
          <a:xfrm>
            <a:off x="661475" y="2387501"/>
            <a:ext cx="6296860" cy="3870325"/>
          </a:xfrm>
          <a:prstGeom prst="roundRect">
            <a:avLst>
              <a:gd name="adj" fmla="val 1859"/>
            </a:avLst>
          </a:prstGeom>
          <a:solidFill>
            <a:srgbClr val="F2EDE5"/>
          </a:solidFill>
          <a:ln w="6350">
            <a:solidFill>
              <a:srgbClr val="CCC4B8"/>
            </a:solidFill>
            <a:prstDash val="solid"/>
          </a:ln>
          <a:effectLst>
            <a:outerShdw sx="100000" sy="100000" kx="0" ky="0" algn="bl" rotWithShape="0" blurRad="127" dist="21590" dir="2700000">
              <a:srgbClr val="ccc4b8">
                <a:alpha val="100000"/>
              </a:srgbClr>
            </a:outerShdw>
          </a:effectLst>
        </p:spPr>
      </p:sp>
      <p:sp>
        <p:nvSpPr>
          <p:cNvPr id="8" name="Shape 5"/>
          <p:cNvSpPr/>
          <p:nvPr/>
        </p:nvSpPr>
        <p:spPr>
          <a:xfrm>
            <a:off x="667825" y="2393851"/>
            <a:ext cx="6284160" cy="964406"/>
          </a:xfrm>
          <a:custGeom>
            <a:avLst/>
            <a:gdLst/>
            <a:ahLst/>
            <a:cxnLst/>
            <a:rect l="l" t="t" r="r" b="b"/>
            <a:pathLst>
              <a:path w="6284160" h="964406">
                <a:moveTo>
                  <a:pt x="59954" y="0"/>
                </a:moveTo>
                <a:lnTo>
                  <a:pt x="6224206" y="0"/>
                </a:lnTo>
                <a:arcTo hR="59956" wR="59954" stAng="16200000" swAng="5400000"/>
                <a:lnTo>
                  <a:pt x="6284160" y="964406"/>
                </a:lnTo>
                <a:lnTo>
                  <a:pt x="0" y="964406"/>
                </a:lnTo>
                <a:lnTo>
                  <a:pt x="0" y="59956"/>
                </a:lnTo>
                <a:arcTo hR="59956" wR="59954" stAng="10800000" swAng="5400000"/>
                <a:close/>
              </a:path>
            </a:pathLst>
          </a:custGeom>
          <a:solidFill>
            <a:srgbClr val="F2EDE5"/>
          </a:solidFill>
          <a:ln/>
        </p:spPr>
      </p:sp>
      <p:sp>
        <p:nvSpPr>
          <p:cNvPr id="9" name="Text 6"/>
          <p:cNvSpPr/>
          <p:nvPr/>
        </p:nvSpPr>
        <p:spPr>
          <a:xfrm>
            <a:off x="839072" y="2565102"/>
            <a:ext cx="5941665" cy="267593"/>
          </a:xfrm>
          <a:prstGeom prst="rect">
            <a:avLst/>
          </a:prstGeom>
          <a:noFill/>
          <a:ln/>
        </p:spPr>
        <p:txBody>
          <a:bodyPr wrap="none" lIns="0" tIns="0" rIns="0" bIns="0" rtlCol="0" anchor="t"/>
          <a:lstStyle/>
          <a:p>
            <a:pPr algn="l" indent="0" marL="0">
              <a:lnSpc>
                <a:spcPct val="104000"/>
              </a:lnSpc>
              <a:buNone/>
            </a:pPr>
            <a:r>
              <a:rPr lang="en-US" sz="1650" spc="-34" kern="0" dirty="0">
                <a:solidFill>
                  <a:srgbClr val="4C4C4C"/>
                </a:solidFill>
                <a:latin typeface="Noto Serif Medium" pitchFamily="34" charset="0"/>
                <a:ea typeface="Noto Serif Medium" pitchFamily="34" charset="-122"/>
                <a:cs typeface="Noto Serif Medium" pitchFamily="34" charset="-120"/>
              </a:rPr>
              <a:t>Page 1</a:t>
            </a:r>
            <a:endParaRPr lang="en-US" sz="1650" dirty="0"/>
          </a:p>
        </p:txBody>
      </p:sp>
      <p:sp>
        <p:nvSpPr>
          <p:cNvPr id="10" name="Text 7"/>
          <p:cNvSpPr/>
          <p:nvPr/>
        </p:nvSpPr>
        <p:spPr>
          <a:xfrm>
            <a:off x="839072" y="2925763"/>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4C4C4C"/>
                </a:solidFill>
                <a:latin typeface="Noto Serif" pitchFamily="34" charset="0"/>
                <a:ea typeface="Noto Serif" pitchFamily="34" charset="-122"/>
                <a:cs typeface="Noto Serif" pitchFamily="34" charset="-120"/>
              </a:rPr>
              <a:t>Rainfall Analysis</a:t>
            </a:r>
            <a:endParaRPr lang="en-US" sz="1300" dirty="0"/>
          </a:p>
        </p:txBody>
      </p:sp>
      <p:sp>
        <p:nvSpPr>
          <p:cNvPr id="11" name="Shape 8"/>
          <p:cNvSpPr/>
          <p:nvPr/>
        </p:nvSpPr>
        <p:spPr>
          <a:xfrm>
            <a:off x="667825" y="3358257"/>
            <a:ext cx="6284160" cy="964406"/>
          </a:xfrm>
          <a:prstGeom prst="rect">
            <a:avLst/>
          </a:prstGeom>
          <a:solidFill>
            <a:srgbClr val="F2EDE5"/>
          </a:solidFill>
          <a:ln/>
        </p:spPr>
      </p:sp>
      <p:sp>
        <p:nvSpPr>
          <p:cNvPr id="12" name="Shape 9"/>
          <p:cNvSpPr/>
          <p:nvPr/>
        </p:nvSpPr>
        <p:spPr>
          <a:xfrm>
            <a:off x="667825" y="3358257"/>
            <a:ext cx="6284160" cy="19050"/>
          </a:xfrm>
          <a:prstGeom prst="roundRect">
            <a:avLst>
              <a:gd name="adj" fmla="val 49999"/>
            </a:avLst>
          </a:prstGeom>
          <a:solidFill>
            <a:srgbClr val="CCC4B8"/>
          </a:solidFill>
          <a:ln/>
        </p:spPr>
      </p:sp>
      <p:sp>
        <p:nvSpPr>
          <p:cNvPr id="13" name="Text 10"/>
          <p:cNvSpPr/>
          <p:nvPr/>
        </p:nvSpPr>
        <p:spPr>
          <a:xfrm>
            <a:off x="839072" y="3529509"/>
            <a:ext cx="5941665" cy="267593"/>
          </a:xfrm>
          <a:prstGeom prst="rect">
            <a:avLst/>
          </a:prstGeom>
          <a:noFill/>
          <a:ln/>
        </p:spPr>
        <p:txBody>
          <a:bodyPr wrap="none" lIns="0" tIns="0" rIns="0" bIns="0" rtlCol="0" anchor="t"/>
          <a:lstStyle/>
          <a:p>
            <a:pPr algn="l" indent="0" marL="0">
              <a:lnSpc>
                <a:spcPct val="104000"/>
              </a:lnSpc>
              <a:buNone/>
            </a:pPr>
            <a:r>
              <a:rPr lang="en-US" sz="1650" spc="-34" kern="0" dirty="0">
                <a:solidFill>
                  <a:srgbClr val="4C4C4C"/>
                </a:solidFill>
                <a:latin typeface="Noto Serif Medium" pitchFamily="34" charset="0"/>
                <a:ea typeface="Noto Serif Medium" pitchFamily="34" charset="-122"/>
                <a:cs typeface="Noto Serif Medium" pitchFamily="34" charset="-120"/>
              </a:rPr>
              <a:t>Page 2</a:t>
            </a:r>
            <a:endParaRPr lang="en-US" sz="1650" dirty="0"/>
          </a:p>
        </p:txBody>
      </p:sp>
      <p:sp>
        <p:nvSpPr>
          <p:cNvPr id="14" name="Text 11"/>
          <p:cNvSpPr/>
          <p:nvPr/>
        </p:nvSpPr>
        <p:spPr>
          <a:xfrm>
            <a:off x="839072" y="3890169"/>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4C4C4C"/>
                </a:solidFill>
                <a:latin typeface="Noto Serif" pitchFamily="34" charset="0"/>
                <a:ea typeface="Noto Serif" pitchFamily="34" charset="-122"/>
                <a:cs typeface="Noto Serif" pitchFamily="34" charset="-120"/>
              </a:rPr>
              <a:t>Temperature Analysis</a:t>
            </a:r>
            <a:endParaRPr lang="en-US" sz="1300" dirty="0"/>
          </a:p>
        </p:txBody>
      </p:sp>
      <p:sp>
        <p:nvSpPr>
          <p:cNvPr id="15" name="Shape 12"/>
          <p:cNvSpPr/>
          <p:nvPr/>
        </p:nvSpPr>
        <p:spPr>
          <a:xfrm>
            <a:off x="667825" y="4322663"/>
            <a:ext cx="6284160" cy="964406"/>
          </a:xfrm>
          <a:prstGeom prst="rect">
            <a:avLst/>
          </a:prstGeom>
          <a:solidFill>
            <a:srgbClr val="F2EDE5"/>
          </a:solidFill>
          <a:ln/>
        </p:spPr>
      </p:sp>
      <p:sp>
        <p:nvSpPr>
          <p:cNvPr id="16" name="Shape 13"/>
          <p:cNvSpPr/>
          <p:nvPr/>
        </p:nvSpPr>
        <p:spPr>
          <a:xfrm>
            <a:off x="667825" y="4322663"/>
            <a:ext cx="6284160" cy="19050"/>
          </a:xfrm>
          <a:prstGeom prst="roundRect">
            <a:avLst>
              <a:gd name="adj" fmla="val 49999"/>
            </a:avLst>
          </a:prstGeom>
          <a:solidFill>
            <a:srgbClr val="CCC4B8"/>
          </a:solidFill>
          <a:ln/>
        </p:spPr>
      </p:sp>
      <p:sp>
        <p:nvSpPr>
          <p:cNvPr id="17" name="Text 14"/>
          <p:cNvSpPr/>
          <p:nvPr/>
        </p:nvSpPr>
        <p:spPr>
          <a:xfrm>
            <a:off x="839072" y="4493915"/>
            <a:ext cx="5941665" cy="267593"/>
          </a:xfrm>
          <a:prstGeom prst="rect">
            <a:avLst/>
          </a:prstGeom>
          <a:noFill/>
          <a:ln/>
        </p:spPr>
        <p:txBody>
          <a:bodyPr wrap="none" lIns="0" tIns="0" rIns="0" bIns="0" rtlCol="0" anchor="t"/>
          <a:lstStyle/>
          <a:p>
            <a:pPr algn="l" indent="0" marL="0">
              <a:lnSpc>
                <a:spcPct val="104000"/>
              </a:lnSpc>
              <a:buNone/>
            </a:pPr>
            <a:r>
              <a:rPr lang="en-US" sz="1650" spc="-34" kern="0" dirty="0">
                <a:solidFill>
                  <a:srgbClr val="4C4C4C"/>
                </a:solidFill>
                <a:latin typeface="Noto Serif Medium" pitchFamily="34" charset="0"/>
                <a:ea typeface="Noto Serif Medium" pitchFamily="34" charset="-122"/>
                <a:cs typeface="Noto Serif Medium" pitchFamily="34" charset="-120"/>
              </a:rPr>
              <a:t>Page 3</a:t>
            </a:r>
            <a:endParaRPr lang="en-US" sz="1650" dirty="0"/>
          </a:p>
        </p:txBody>
      </p:sp>
      <p:sp>
        <p:nvSpPr>
          <p:cNvPr id="18" name="Text 15"/>
          <p:cNvSpPr/>
          <p:nvPr/>
        </p:nvSpPr>
        <p:spPr>
          <a:xfrm>
            <a:off x="839072" y="4854575"/>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4C4C4C"/>
                </a:solidFill>
                <a:latin typeface="Noto Serif" pitchFamily="34" charset="0"/>
                <a:ea typeface="Noto Serif" pitchFamily="34" charset="-122"/>
                <a:cs typeface="Noto Serif" pitchFamily="34" charset="-120"/>
              </a:rPr>
              <a:t>Humidity Analysis</a:t>
            </a:r>
            <a:endParaRPr lang="en-US" sz="1300" dirty="0"/>
          </a:p>
        </p:txBody>
      </p:sp>
      <p:sp>
        <p:nvSpPr>
          <p:cNvPr id="19" name="Shape 16"/>
          <p:cNvSpPr/>
          <p:nvPr/>
        </p:nvSpPr>
        <p:spPr>
          <a:xfrm>
            <a:off x="667825" y="5287070"/>
            <a:ext cx="6284160" cy="964406"/>
          </a:xfrm>
          <a:custGeom>
            <a:avLst/>
            <a:gdLst/>
            <a:ahLst/>
            <a:cxnLst/>
            <a:rect l="l" t="t" r="r" b="b"/>
            <a:pathLst>
              <a:path w="6284160" h="964406">
                <a:moveTo>
                  <a:pt x="0" y="0"/>
                </a:moveTo>
                <a:lnTo>
                  <a:pt x="6284160" y="0"/>
                </a:lnTo>
                <a:lnTo>
                  <a:pt x="6284160" y="904450"/>
                </a:lnTo>
                <a:arcTo hR="59956" wR="59954" stAng="0" swAng="5400000"/>
                <a:lnTo>
                  <a:pt x="59954" y="964406"/>
                </a:lnTo>
                <a:arcTo hR="59956" wR="59954" stAng="5400000" swAng="5400000"/>
                <a:lnTo>
                  <a:pt x="0" y="0"/>
                </a:lnTo>
                <a:close/>
              </a:path>
            </a:pathLst>
          </a:custGeom>
          <a:solidFill>
            <a:srgbClr val="F2EDE5"/>
          </a:solidFill>
          <a:ln/>
        </p:spPr>
      </p:sp>
      <p:sp>
        <p:nvSpPr>
          <p:cNvPr id="20" name="Shape 17"/>
          <p:cNvSpPr/>
          <p:nvPr/>
        </p:nvSpPr>
        <p:spPr>
          <a:xfrm>
            <a:off x="667825" y="5287070"/>
            <a:ext cx="6284160" cy="19050"/>
          </a:xfrm>
          <a:prstGeom prst="roundRect">
            <a:avLst>
              <a:gd name="adj" fmla="val 49999"/>
            </a:avLst>
          </a:prstGeom>
          <a:solidFill>
            <a:srgbClr val="CCC4B8"/>
          </a:solidFill>
          <a:ln/>
        </p:spPr>
      </p:sp>
      <p:sp>
        <p:nvSpPr>
          <p:cNvPr id="21" name="Text 18"/>
          <p:cNvSpPr/>
          <p:nvPr/>
        </p:nvSpPr>
        <p:spPr>
          <a:xfrm>
            <a:off x="839072" y="5458321"/>
            <a:ext cx="5941665" cy="267593"/>
          </a:xfrm>
          <a:prstGeom prst="rect">
            <a:avLst/>
          </a:prstGeom>
          <a:noFill/>
          <a:ln/>
        </p:spPr>
        <p:txBody>
          <a:bodyPr wrap="none" lIns="0" tIns="0" rIns="0" bIns="0" rtlCol="0" anchor="t"/>
          <a:lstStyle/>
          <a:p>
            <a:pPr algn="l" indent="0" marL="0">
              <a:lnSpc>
                <a:spcPct val="104000"/>
              </a:lnSpc>
              <a:buNone/>
            </a:pPr>
            <a:r>
              <a:rPr lang="en-US" sz="1650" spc="-34" kern="0" dirty="0">
                <a:solidFill>
                  <a:srgbClr val="4C4C4C"/>
                </a:solidFill>
                <a:latin typeface="Noto Serif Medium" pitchFamily="34" charset="0"/>
                <a:ea typeface="Noto Serif Medium" pitchFamily="34" charset="-122"/>
                <a:cs typeface="Noto Serif Medium" pitchFamily="34" charset="-120"/>
              </a:rPr>
              <a:t>Page 4</a:t>
            </a:r>
            <a:endParaRPr lang="en-US" sz="1650" dirty="0"/>
          </a:p>
        </p:txBody>
      </p:sp>
      <p:sp>
        <p:nvSpPr>
          <p:cNvPr id="22" name="Text 19"/>
          <p:cNvSpPr/>
          <p:nvPr/>
        </p:nvSpPr>
        <p:spPr>
          <a:xfrm>
            <a:off x="839072" y="5818981"/>
            <a:ext cx="5941665" cy="261243"/>
          </a:xfrm>
          <a:prstGeom prst="rect">
            <a:avLst/>
          </a:prstGeom>
          <a:noFill/>
          <a:ln/>
        </p:spPr>
        <p:txBody>
          <a:bodyPr wrap="none" lIns="0" tIns="0" rIns="0" bIns="0" rtlCol="0" anchor="t"/>
          <a:lstStyle/>
          <a:p>
            <a:pPr algn="l" indent="0" marL="0">
              <a:lnSpc>
                <a:spcPct val="127000"/>
              </a:lnSpc>
              <a:buNone/>
            </a:pPr>
            <a:r>
              <a:rPr lang="en-US" sz="1300" dirty="0">
                <a:solidFill>
                  <a:srgbClr val="4C4C4C"/>
                </a:solidFill>
                <a:latin typeface="Noto Serif" pitchFamily="34" charset="0"/>
                <a:ea typeface="Noto Serif" pitchFamily="34" charset="-122"/>
                <a:cs typeface="Noto Serif" pitchFamily="34" charset="-120"/>
              </a:rPr>
              <a:t>Yield Analysis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80926"/>
            <a:ext cx="10868745" cy="452239"/>
          </a:xfrm>
          <a:prstGeom prst="rect">
            <a:avLst/>
          </a:prstGeom>
          <a:noFill/>
          <a:ln/>
        </p:spPr>
        <p:txBody>
          <a:bodyPr wrap="none" lIns="0" tIns="0" rIns="0" bIns="0" rtlCol="0" anchor="t"/>
          <a:lstStyle/>
          <a:p>
            <a:pPr algn="l" indent="0" marL="0">
              <a:lnSpc>
                <a:spcPct val="104000"/>
              </a:lnSpc>
              <a:buNone/>
            </a:pPr>
            <a:r>
              <a:rPr lang="en-US" sz="2800" spc="-57" kern="0" dirty="0">
                <a:solidFill>
                  <a:srgbClr val="3A3A3A"/>
                </a:solidFill>
                <a:latin typeface="Noto Serif Medium" pitchFamily="34" charset="0"/>
                <a:ea typeface="Noto Serif Medium" pitchFamily="34" charset="-122"/>
                <a:cs typeface="Noto Serif Medium" pitchFamily="34" charset="-120"/>
              </a:rPr>
              <a:t>Rainfall Analysis</a:t>
            </a:r>
            <a:endParaRPr lang="en-US" sz="2800" dirty="0"/>
          </a:p>
        </p:txBody>
      </p:sp>
      <p:pic>
        <p:nvPicPr>
          <p:cNvPr id="3" name="Image 0" descr="preencoded.png">    </p:cNvPr>
          <p:cNvPicPr>
            <a:picLocks noChangeAspect="1"/>
          </p:cNvPicPr>
          <p:nvPr/>
        </p:nvPicPr>
        <p:blipFill>
          <a:blip r:embed="rId1"/>
          <a:stretch>
            <a:fillRect/>
          </a:stretch>
        </p:blipFill>
        <p:spPr>
          <a:xfrm>
            <a:off x="895129" y="1933674"/>
            <a:ext cx="6473663" cy="3608884"/>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61907" y="1323975"/>
            <a:ext cx="3588131" cy="1290910"/>
          </a:xfrm>
          <a:prstGeom prst="rect">
            <a:avLst/>
          </a:prstGeom>
        </p:spPr>
      </p:pic>
      <p:sp>
        <p:nvSpPr>
          <p:cNvPr id="5" name="Text 1"/>
          <p:cNvSpPr/>
          <p:nvPr/>
        </p:nvSpPr>
        <p:spPr>
          <a:xfrm>
            <a:off x="8201812" y="1487686"/>
            <a:ext cx="3170952"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By Season</a:t>
            </a:r>
            <a:endParaRPr lang="en-US" sz="1400" dirty="0"/>
          </a:p>
        </p:txBody>
      </p:sp>
      <p:sp>
        <p:nvSpPr>
          <p:cNvPr id="6" name="Text 2"/>
          <p:cNvSpPr/>
          <p:nvPr/>
        </p:nvSpPr>
        <p:spPr>
          <a:xfrm>
            <a:off x="8201812" y="1824434"/>
            <a:ext cx="3170952" cy="613172"/>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Rabi (3,105), Kharif (3,097), Zaid (3,070) — a gap of about 1%, so season does not change rainfall much</a:t>
            </a:r>
            <a:endParaRPr lang="en-US" sz="11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1907" y="2712045"/>
            <a:ext cx="3588131" cy="1290910"/>
          </a:xfrm>
          <a:prstGeom prst="rect">
            <a:avLst/>
          </a:prstGeom>
        </p:spPr>
      </p:pic>
      <p:sp>
        <p:nvSpPr>
          <p:cNvPr id="8" name="Text 3"/>
          <p:cNvSpPr/>
          <p:nvPr/>
        </p:nvSpPr>
        <p:spPr>
          <a:xfrm>
            <a:off x="8201812" y="2875756"/>
            <a:ext cx="3170952"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By Crop</a:t>
            </a:r>
            <a:endParaRPr lang="en-US" sz="1400" dirty="0"/>
          </a:p>
        </p:txBody>
      </p:sp>
      <p:sp>
        <p:nvSpPr>
          <p:cNvPr id="9" name="Text 4"/>
          <p:cNvSpPr/>
          <p:nvPr/>
        </p:nvSpPr>
        <p:spPr>
          <a:xfrm>
            <a:off x="8201812" y="3212505"/>
            <a:ext cx="3170952" cy="613172"/>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Paddy highest at 3.5K; Arecanut, Cardamum, Cashew, Groundnut, Chilli, Tea, Coffee, Blackgram, and Ginger all at 3.1K–3.3K</a:t>
            </a:r>
            <a:endParaRPr lang="en-US" sz="11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61907" y="4100116"/>
            <a:ext cx="3588131" cy="1086519"/>
          </a:xfrm>
          <a:prstGeom prst="rect">
            <a:avLst/>
          </a:prstGeom>
        </p:spPr>
      </p:pic>
      <p:sp>
        <p:nvSpPr>
          <p:cNvPr id="11" name="Text 5"/>
          <p:cNvSpPr/>
          <p:nvPr/>
        </p:nvSpPr>
        <p:spPr>
          <a:xfrm>
            <a:off x="8201812" y="4263827"/>
            <a:ext cx="3170952"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By Location</a:t>
            </a:r>
            <a:endParaRPr lang="en-US" sz="1400" dirty="0"/>
          </a:p>
        </p:txBody>
      </p:sp>
      <p:sp>
        <p:nvSpPr>
          <p:cNvPr id="12" name="Text 6"/>
          <p:cNvSpPr/>
          <p:nvPr/>
        </p:nvSpPr>
        <p:spPr>
          <a:xfrm>
            <a:off x="8201812" y="4600575"/>
            <a:ext cx="3170952"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Bangalore leads at 3.8K; other locations range from 3.0K to 3.2K</a:t>
            </a:r>
            <a:endParaRPr lang="en-US" sz="11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1907" y="5283795"/>
            <a:ext cx="3588131" cy="882129"/>
          </a:xfrm>
          <a:prstGeom prst="rect">
            <a:avLst/>
          </a:prstGeom>
        </p:spPr>
      </p:pic>
      <p:sp>
        <p:nvSpPr>
          <p:cNvPr id="14" name="Text 7"/>
          <p:cNvSpPr/>
          <p:nvPr/>
        </p:nvSpPr>
        <p:spPr>
          <a:xfrm>
            <a:off x="8201812" y="5447506"/>
            <a:ext cx="3170952"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By Year</a:t>
            </a:r>
            <a:endParaRPr lang="en-US" sz="1400" dirty="0"/>
          </a:p>
        </p:txBody>
      </p:sp>
      <p:sp>
        <p:nvSpPr>
          <p:cNvPr id="15" name="Text 8"/>
          <p:cNvSpPr/>
          <p:nvPr/>
        </p:nvSpPr>
        <p:spPr>
          <a:xfrm>
            <a:off x="8201812" y="5784255"/>
            <a:ext cx="3170952" cy="204391"/>
          </a:xfrm>
          <a:prstGeom prst="rect">
            <a:avLst/>
          </a:prstGeom>
          <a:noFill/>
          <a:ln/>
        </p:spPr>
        <p:txBody>
          <a:bodyPr wrap="none" lIns="0" tIns="0" rIns="0" bIns="0" rtlCol="0" anchor="t"/>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Yearly averages range from 2,740 to 3,199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22995"/>
            <a:ext cx="10868745" cy="526058"/>
          </a:xfrm>
          <a:prstGeom prst="rect">
            <a:avLst/>
          </a:prstGeom>
          <a:noFill/>
          <a:ln/>
        </p:spPr>
        <p:txBody>
          <a:bodyPr wrap="none" lIns="0" tIns="0" rIns="0" bIns="0" rtlCol="0" anchor="t"/>
          <a:lstStyle/>
          <a:p>
            <a:pPr algn="l" indent="0" marL="0">
              <a:lnSpc>
                <a:spcPct val="104000"/>
              </a:lnSpc>
              <a:buNone/>
            </a:pPr>
            <a:r>
              <a:rPr lang="en-US" sz="3300" spc="-66" kern="0" dirty="0">
                <a:solidFill>
                  <a:srgbClr val="3A3A3A"/>
                </a:solidFill>
                <a:latin typeface="Noto Serif Medium" pitchFamily="34" charset="0"/>
                <a:ea typeface="Noto Serif Medium" pitchFamily="34" charset="-122"/>
                <a:cs typeface="Noto Serif Medium" pitchFamily="34" charset="-120"/>
              </a:rPr>
              <a:t>Temperature &amp; Humidity Analysis</a:t>
            </a:r>
            <a:endParaRPr lang="en-US" sz="3300" dirty="0"/>
          </a:p>
        </p:txBody>
      </p:sp>
      <p:pic>
        <p:nvPicPr>
          <p:cNvPr id="3" name="Image 0" descr="preencoded.png">    </p:cNvPr>
          <p:cNvPicPr>
            <a:picLocks noChangeAspect="1"/>
          </p:cNvPicPr>
          <p:nvPr/>
        </p:nvPicPr>
        <p:blipFill>
          <a:blip r:embed="rId1"/>
          <a:stretch>
            <a:fillRect/>
          </a:stretch>
        </p:blipFill>
        <p:spPr>
          <a:xfrm>
            <a:off x="661475" y="1864717"/>
            <a:ext cx="6920831" cy="3879255"/>
          </a:xfrm>
          <a:prstGeom prst="rect">
            <a:avLst/>
          </a:prstGeom>
        </p:spPr>
      </p:pic>
      <p:sp>
        <p:nvSpPr>
          <p:cNvPr id="4" name="Text 1"/>
          <p:cNvSpPr/>
          <p:nvPr/>
        </p:nvSpPr>
        <p:spPr>
          <a:xfrm>
            <a:off x="7999411" y="1523802"/>
            <a:ext cx="3537060" cy="263029"/>
          </a:xfrm>
          <a:prstGeom prst="rect">
            <a:avLst/>
          </a:prstGeom>
          <a:noFill/>
          <a:ln/>
        </p:spPr>
        <p:txBody>
          <a:bodyPr wrap="none" lIns="0" tIns="0" rIns="0" bIns="0" rtlCol="0" anchor="t"/>
          <a:lstStyle/>
          <a:p>
            <a:pPr algn="l" indent="0" marL="0">
              <a:lnSpc>
                <a:spcPct val="104000"/>
              </a:lnSpc>
              <a:buNone/>
            </a:pPr>
            <a:r>
              <a:rPr lang="en-US" sz="1650" spc="-33" kern="0" dirty="0">
                <a:solidFill>
                  <a:srgbClr val="3A3A3A"/>
                </a:solidFill>
                <a:latin typeface="Noto Serif Medium" pitchFamily="34" charset="0"/>
                <a:ea typeface="Noto Serif Medium" pitchFamily="34" charset="-122"/>
                <a:cs typeface="Noto Serif Medium" pitchFamily="34" charset="-120"/>
              </a:rPr>
              <a:t>Temperature</a:t>
            </a:r>
            <a:endParaRPr lang="en-US" sz="1650" dirty="0"/>
          </a:p>
        </p:txBody>
      </p:sp>
      <p:sp>
        <p:nvSpPr>
          <p:cNvPr id="5" name="Text 2"/>
          <p:cNvSpPr/>
          <p:nvPr/>
        </p:nvSpPr>
        <p:spPr>
          <a:xfrm>
            <a:off x="7999411" y="1936750"/>
            <a:ext cx="3537060" cy="1782167"/>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4C4C4C"/>
                </a:solidFill>
                <a:latin typeface="Noto Serif" pitchFamily="34" charset="0"/>
                <a:ea typeface="Noto Serif" pitchFamily="34" charset="-122"/>
                <a:cs typeface="Noto Serif" pitchFamily="34" charset="-120"/>
              </a:rPr>
              <a:t>Rabi is the cooler season (61), about 11 lower than Kharif and Zaid (72 each). Ginger (79), Tea (74), and Cashew (74) have the highest crop averages; Pepper (59) and Cotton (60) the lowest. Yearly averages range from 41 to 73. </a:t>
            </a:r>
            <a:pPr algn="l" indent="0" marL="0">
              <a:lnSpc>
                <a:spcPct val="126000"/>
              </a:lnSpc>
              <a:buNone/>
            </a:pPr>
            <a:r>
              <a:rPr lang="en-US" sz="1300" i="1" dirty="0">
                <a:solidFill>
                  <a:srgbClr val="4C4C4C"/>
                </a:solidFill>
                <a:latin typeface="Noto Serif" pitchFamily="34" charset="0"/>
                <a:ea typeface="Noto Serif" pitchFamily="34" charset="-122"/>
                <a:cs typeface="Noto Serif" pitchFamily="34" charset="-120"/>
              </a:rPr>
              <a:t>Unit not stated in dataset.</a:t>
            </a:r>
            <a:endParaRPr lang="en-US" sz="1300" dirty="0"/>
          </a:p>
        </p:txBody>
      </p:sp>
      <p:sp>
        <p:nvSpPr>
          <p:cNvPr id="6" name="Shape 3"/>
          <p:cNvSpPr/>
          <p:nvPr/>
        </p:nvSpPr>
        <p:spPr>
          <a:xfrm>
            <a:off x="7999411" y="3929658"/>
            <a:ext cx="3537060" cy="19050"/>
          </a:xfrm>
          <a:prstGeom prst="roundRect">
            <a:avLst>
              <a:gd name="adj" fmla="val 49999"/>
            </a:avLst>
          </a:prstGeom>
          <a:solidFill>
            <a:srgbClr val="4C4C4C">
              <a:alpha val="50000"/>
            </a:srgbClr>
          </a:solidFill>
          <a:ln/>
        </p:spPr>
      </p:sp>
      <p:sp>
        <p:nvSpPr>
          <p:cNvPr id="7" name="Text 4"/>
          <p:cNvSpPr/>
          <p:nvPr/>
        </p:nvSpPr>
        <p:spPr>
          <a:xfrm>
            <a:off x="7999411" y="4159448"/>
            <a:ext cx="3537060" cy="263029"/>
          </a:xfrm>
          <a:prstGeom prst="rect">
            <a:avLst/>
          </a:prstGeom>
          <a:noFill/>
          <a:ln/>
        </p:spPr>
        <p:txBody>
          <a:bodyPr wrap="none" lIns="0" tIns="0" rIns="0" bIns="0" rtlCol="0" anchor="t"/>
          <a:lstStyle/>
          <a:p>
            <a:pPr algn="l" indent="0" marL="0">
              <a:lnSpc>
                <a:spcPct val="104000"/>
              </a:lnSpc>
              <a:buNone/>
            </a:pPr>
            <a:r>
              <a:rPr lang="en-US" sz="1650" spc="-33" kern="0" dirty="0">
                <a:solidFill>
                  <a:srgbClr val="3A3A3A"/>
                </a:solidFill>
                <a:latin typeface="Noto Serif Medium" pitchFamily="34" charset="0"/>
                <a:ea typeface="Noto Serif Medium" pitchFamily="34" charset="-122"/>
                <a:cs typeface="Noto Serif Medium" pitchFamily="34" charset="-120"/>
              </a:rPr>
              <a:t>Humidity</a:t>
            </a:r>
            <a:endParaRPr lang="en-US" sz="1650" dirty="0"/>
          </a:p>
        </p:txBody>
      </p:sp>
      <p:sp>
        <p:nvSpPr>
          <p:cNvPr id="8" name="Text 5"/>
          <p:cNvSpPr/>
          <p:nvPr/>
        </p:nvSpPr>
        <p:spPr>
          <a:xfrm>
            <a:off x="7999411" y="4572397"/>
            <a:ext cx="3537060" cy="1527572"/>
          </a:xfrm>
          <a:prstGeom prst="rect">
            <a:avLst/>
          </a:prstGeom>
          <a:noFill/>
          <a:ln/>
        </p:spPr>
        <p:txBody>
          <a:bodyPr wrap="square" lIns="0" tIns="0" rIns="0" bIns="0" rtlCol="0" anchor="t">
            <a:normAutofit/>
          </a:bodyPr>
          <a:lstStyle/>
          <a:p>
            <a:pPr algn="l" indent="0" marL="0">
              <a:lnSpc>
                <a:spcPct val="126000"/>
              </a:lnSpc>
              <a:buNone/>
            </a:pPr>
            <a:r>
              <a:rPr lang="en-US" sz="1300" dirty="0">
                <a:solidFill>
                  <a:srgbClr val="4C4C4C"/>
                </a:solidFill>
                <a:latin typeface="Noto Serif" pitchFamily="34" charset="0"/>
                <a:ea typeface="Noto Serif" pitchFamily="34" charset="-122"/>
                <a:cs typeface="Noto Serif" pitchFamily="34" charset="-120"/>
              </a:rPr>
              <a:t>Average humidity is about 55–56 for every year, season, crop, and location. Cardamum, tea, ginger, and arecanut show 55; the rest show 56 — a gap too small to matter. Humidity does not separate any group in this data, so it adds little to the analysis.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33598"/>
            <a:ext cx="10868745" cy="470595"/>
          </a:xfrm>
          <a:prstGeom prst="rect">
            <a:avLst/>
          </a:prstGeom>
          <a:noFill/>
          <a:ln/>
        </p:spPr>
        <p:txBody>
          <a:bodyPr wrap="none" lIns="0" tIns="0" rIns="0" bIns="0" rtlCol="0" anchor="t"/>
          <a:lstStyle/>
          <a:p>
            <a:pPr algn="l" indent="0" marL="0">
              <a:lnSpc>
                <a:spcPct val="104000"/>
              </a:lnSpc>
              <a:buNone/>
            </a:pPr>
            <a:r>
              <a:rPr lang="en-US" sz="2950" spc="-59" kern="0" dirty="0">
                <a:solidFill>
                  <a:srgbClr val="3A3A3A"/>
                </a:solidFill>
                <a:latin typeface="Noto Serif Medium" pitchFamily="34" charset="0"/>
                <a:ea typeface="Noto Serif Medium" pitchFamily="34" charset="-122"/>
                <a:cs typeface="Noto Serif Medium" pitchFamily="34" charset="-120"/>
              </a:rPr>
              <a:t>Yield Analysis</a:t>
            </a:r>
            <a:endParaRPr lang="en-US" sz="2950" dirty="0"/>
          </a:p>
        </p:txBody>
      </p:sp>
      <p:pic>
        <p:nvPicPr>
          <p:cNvPr id="3" name="Image 0" descr="preencoded.png">    </p:cNvPr>
          <p:cNvPicPr>
            <a:picLocks noChangeAspect="1"/>
          </p:cNvPicPr>
          <p:nvPr/>
        </p:nvPicPr>
        <p:blipFill>
          <a:blip r:embed="rId1"/>
          <a:stretch>
            <a:fillRect/>
          </a:stretch>
        </p:blipFill>
        <p:spPr>
          <a:xfrm>
            <a:off x="841652" y="1876127"/>
            <a:ext cx="6575657" cy="3756223"/>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71333" y="1319113"/>
            <a:ext cx="3579259" cy="1141742"/>
          </a:xfrm>
          <a:prstGeom prst="rect">
            <a:avLst/>
          </a:prstGeom>
        </p:spPr>
      </p:pic>
      <p:sp>
        <p:nvSpPr>
          <p:cNvPr id="5" name="Text 1"/>
          <p:cNvSpPr/>
          <p:nvPr/>
        </p:nvSpPr>
        <p:spPr>
          <a:xfrm>
            <a:off x="8217191" y="1488777"/>
            <a:ext cx="3149620" cy="235347"/>
          </a:xfrm>
          <a:prstGeom prst="rect">
            <a:avLst/>
          </a:prstGeom>
          <a:noFill/>
          <a:ln/>
        </p:spPr>
        <p:txBody>
          <a:bodyPr wrap="none" lIns="0" tIns="0" rIns="0" bIns="0" rtlCol="0" anchor="t"/>
          <a:lstStyle/>
          <a:p>
            <a:pPr algn="l" indent="0" marL="0">
              <a:lnSpc>
                <a:spcPct val="104000"/>
              </a:lnSpc>
              <a:buNone/>
            </a:pPr>
            <a:r>
              <a:rPr lang="en-US" sz="1450" spc="-30" kern="0" dirty="0">
                <a:solidFill>
                  <a:srgbClr val="4C4C4C"/>
                </a:solidFill>
                <a:latin typeface="Noto Serif Medium" pitchFamily="34" charset="0"/>
                <a:ea typeface="Noto Serif Medium" pitchFamily="34" charset="-122"/>
                <a:cs typeface="Noto Serif Medium" pitchFamily="34" charset="-120"/>
              </a:rPr>
              <a:t>By Crop</a:t>
            </a:r>
            <a:endParaRPr lang="en-US" sz="1450" dirty="0"/>
          </a:p>
        </p:txBody>
      </p:sp>
      <p:sp>
        <p:nvSpPr>
          <p:cNvPr id="6" name="Text 2"/>
          <p:cNvSpPr/>
          <p:nvPr/>
        </p:nvSpPr>
        <p:spPr>
          <a:xfrm>
            <a:off x="8217191" y="1844080"/>
            <a:ext cx="3149620"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C"/>
                </a:solidFill>
                <a:latin typeface="Noto Serif" pitchFamily="34" charset="0"/>
                <a:ea typeface="Noto Serif" pitchFamily="34" charset="-122"/>
                <a:cs typeface="Noto Serif" pitchFamily="34" charset="-120"/>
              </a:rPr>
              <a:t>Cotton (51K) and Coconut (34K) lead; Arecanut and Groundnut lowest (~9K)</a:t>
            </a:r>
            <a:endParaRPr lang="en-US" sz="11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71333" y="2566690"/>
            <a:ext cx="3579259" cy="1141742"/>
          </a:xfrm>
          <a:prstGeom prst="rect">
            <a:avLst/>
          </a:prstGeom>
        </p:spPr>
      </p:pic>
      <p:sp>
        <p:nvSpPr>
          <p:cNvPr id="8" name="Text 3"/>
          <p:cNvSpPr/>
          <p:nvPr/>
        </p:nvSpPr>
        <p:spPr>
          <a:xfrm>
            <a:off x="8217191" y="2736354"/>
            <a:ext cx="3149620" cy="235347"/>
          </a:xfrm>
          <a:prstGeom prst="rect">
            <a:avLst/>
          </a:prstGeom>
          <a:noFill/>
          <a:ln/>
        </p:spPr>
        <p:txBody>
          <a:bodyPr wrap="none" lIns="0" tIns="0" rIns="0" bIns="0" rtlCol="0" anchor="t"/>
          <a:lstStyle/>
          <a:p>
            <a:pPr algn="l" indent="0" marL="0">
              <a:lnSpc>
                <a:spcPct val="104000"/>
              </a:lnSpc>
              <a:buNone/>
            </a:pPr>
            <a:r>
              <a:rPr lang="en-US" sz="1450" spc="-30" kern="0" dirty="0">
                <a:solidFill>
                  <a:srgbClr val="4C4C4C"/>
                </a:solidFill>
                <a:latin typeface="Noto Serif Medium" pitchFamily="34" charset="0"/>
                <a:ea typeface="Noto Serif Medium" pitchFamily="34" charset="-122"/>
                <a:cs typeface="Noto Serif Medium" pitchFamily="34" charset="-120"/>
              </a:rPr>
              <a:t>By Season</a:t>
            </a:r>
            <a:endParaRPr lang="en-US" sz="1450" dirty="0"/>
          </a:p>
        </p:txBody>
      </p:sp>
      <p:sp>
        <p:nvSpPr>
          <p:cNvPr id="9" name="Text 4"/>
          <p:cNvSpPr/>
          <p:nvPr/>
        </p:nvSpPr>
        <p:spPr>
          <a:xfrm>
            <a:off x="8217191" y="3091656"/>
            <a:ext cx="3149620"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C"/>
                </a:solidFill>
                <a:latin typeface="Noto Serif" pitchFamily="34" charset="0"/>
                <a:ea typeface="Noto Serif" pitchFamily="34" charset="-122"/>
                <a:cs typeface="Noto Serif" pitchFamily="34" charset="-120"/>
              </a:rPr>
              <a:t>Rabi highest at 24.9K — about 23% above Kharif (20.2K)</a:t>
            </a:r>
            <a:endParaRPr lang="en-US" sz="11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71333" y="3814266"/>
            <a:ext cx="3579259" cy="1141742"/>
          </a:xfrm>
          <a:prstGeom prst="rect">
            <a:avLst/>
          </a:prstGeom>
        </p:spPr>
      </p:pic>
      <p:sp>
        <p:nvSpPr>
          <p:cNvPr id="11" name="Text 5"/>
          <p:cNvSpPr/>
          <p:nvPr/>
        </p:nvSpPr>
        <p:spPr>
          <a:xfrm>
            <a:off x="8217191" y="3983930"/>
            <a:ext cx="3149620" cy="235347"/>
          </a:xfrm>
          <a:prstGeom prst="rect">
            <a:avLst/>
          </a:prstGeom>
          <a:noFill/>
          <a:ln/>
        </p:spPr>
        <p:txBody>
          <a:bodyPr wrap="none" lIns="0" tIns="0" rIns="0" bIns="0" rtlCol="0" anchor="t"/>
          <a:lstStyle/>
          <a:p>
            <a:pPr algn="l" indent="0" marL="0">
              <a:lnSpc>
                <a:spcPct val="104000"/>
              </a:lnSpc>
              <a:buNone/>
            </a:pPr>
            <a:r>
              <a:rPr lang="en-US" sz="1450" spc="-30" kern="0" dirty="0">
                <a:solidFill>
                  <a:srgbClr val="4C4C4C"/>
                </a:solidFill>
                <a:latin typeface="Noto Serif Medium" pitchFamily="34" charset="0"/>
                <a:ea typeface="Noto Serif Medium" pitchFamily="34" charset="-122"/>
                <a:cs typeface="Noto Serif Medium" pitchFamily="34" charset="-120"/>
              </a:rPr>
              <a:t>By Location</a:t>
            </a:r>
            <a:endParaRPr lang="en-US" sz="1450" dirty="0"/>
          </a:p>
        </p:txBody>
      </p:sp>
      <p:sp>
        <p:nvSpPr>
          <p:cNvPr id="12" name="Text 6"/>
          <p:cNvSpPr/>
          <p:nvPr/>
        </p:nvSpPr>
        <p:spPr>
          <a:xfrm>
            <a:off x="8217191" y="4339233"/>
            <a:ext cx="3149620"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C"/>
                </a:solidFill>
                <a:latin typeface="Noto Serif" pitchFamily="34" charset="0"/>
                <a:ea typeface="Noto Serif" pitchFamily="34" charset="-122"/>
                <a:cs typeface="Noto Serif" pitchFamily="34" charset="-120"/>
              </a:rPr>
              <a:t>Kodagu (29K) and Mysuru (28K) lead; Mangalore and Gulbarga lowest (21K)</a:t>
            </a:r>
            <a:endParaRPr lang="en-US" sz="11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71333" y="5061843"/>
            <a:ext cx="3579259" cy="1141742"/>
          </a:xfrm>
          <a:prstGeom prst="rect">
            <a:avLst/>
          </a:prstGeom>
        </p:spPr>
      </p:pic>
      <p:sp>
        <p:nvSpPr>
          <p:cNvPr id="14" name="Text 7"/>
          <p:cNvSpPr/>
          <p:nvPr/>
        </p:nvSpPr>
        <p:spPr>
          <a:xfrm>
            <a:off x="8217191" y="5231507"/>
            <a:ext cx="3149620" cy="235347"/>
          </a:xfrm>
          <a:prstGeom prst="rect">
            <a:avLst/>
          </a:prstGeom>
          <a:noFill/>
          <a:ln/>
        </p:spPr>
        <p:txBody>
          <a:bodyPr wrap="none" lIns="0" tIns="0" rIns="0" bIns="0" rtlCol="0" anchor="t"/>
          <a:lstStyle/>
          <a:p>
            <a:pPr algn="l" indent="0" marL="0">
              <a:lnSpc>
                <a:spcPct val="104000"/>
              </a:lnSpc>
              <a:buNone/>
            </a:pPr>
            <a:r>
              <a:rPr lang="en-US" sz="1450" spc="-30" kern="0" dirty="0">
                <a:solidFill>
                  <a:srgbClr val="4C4C4C"/>
                </a:solidFill>
                <a:latin typeface="Noto Serif Medium" pitchFamily="34" charset="0"/>
                <a:ea typeface="Noto Serif Medium" pitchFamily="34" charset="-122"/>
                <a:cs typeface="Noto Serif Medium" pitchFamily="34" charset="-120"/>
              </a:rPr>
              <a:t>By Year</a:t>
            </a:r>
            <a:endParaRPr lang="en-US" sz="1450" dirty="0"/>
          </a:p>
        </p:txBody>
      </p:sp>
      <p:sp>
        <p:nvSpPr>
          <p:cNvPr id="15" name="Text 8"/>
          <p:cNvSpPr/>
          <p:nvPr/>
        </p:nvSpPr>
        <p:spPr>
          <a:xfrm>
            <a:off x="8217191" y="5586809"/>
            <a:ext cx="3149620"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4C4C4C"/>
                </a:solidFill>
                <a:latin typeface="Noto Serif" pitchFamily="34" charset="0"/>
                <a:ea typeface="Noto Serif" pitchFamily="34" charset="-122"/>
                <a:cs typeface="Noto Serif" pitchFamily="34" charset="-120"/>
              </a:rPr>
              <a:t>Yearly averages range from 16.4K to 28.7K — yield changes a lot from year to year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88963"/>
            <a:ext cx="6296860" cy="452239"/>
          </a:xfrm>
          <a:prstGeom prst="rect">
            <a:avLst/>
          </a:prstGeom>
          <a:noFill/>
          <a:ln/>
        </p:spPr>
        <p:txBody>
          <a:bodyPr wrap="none" lIns="0" tIns="0" rIns="0" bIns="0" rtlCol="0" anchor="t"/>
          <a:lstStyle/>
          <a:p>
            <a:pPr algn="l" indent="0" marL="0">
              <a:lnSpc>
                <a:spcPct val="104000"/>
              </a:lnSpc>
              <a:buNone/>
            </a:pPr>
            <a:r>
              <a:rPr lang="en-US" sz="2800" spc="-57" kern="0" dirty="0">
                <a:solidFill>
                  <a:srgbClr val="3A3A3A"/>
                </a:solidFill>
                <a:latin typeface="Noto Serif Medium" pitchFamily="34" charset="0"/>
                <a:ea typeface="Noto Serif Medium" pitchFamily="34" charset="-122"/>
                <a:cs typeface="Noto Serif Medium" pitchFamily="34" charset="-120"/>
              </a:rPr>
              <a:t>Key Takeaways</a:t>
            </a:r>
            <a:endParaRPr lang="en-US" sz="28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207393"/>
            <a:ext cx="361743" cy="361752"/>
          </a:xfrm>
          <a:prstGeom prst="rect">
            <a:avLst/>
          </a:prstGeom>
        </p:spPr>
      </p:pic>
      <p:sp>
        <p:nvSpPr>
          <p:cNvPr id="5" name="Text 1"/>
          <p:cNvSpPr/>
          <p:nvPr/>
        </p:nvSpPr>
        <p:spPr>
          <a:xfrm>
            <a:off x="661475" y="1707555"/>
            <a:ext cx="6296860"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High-Yield Crops</a:t>
            </a:r>
            <a:endParaRPr lang="en-US" sz="1400" dirty="0"/>
          </a:p>
        </p:txBody>
      </p:sp>
      <p:sp>
        <p:nvSpPr>
          <p:cNvPr id="6" name="Text 2"/>
          <p:cNvSpPr/>
          <p:nvPr/>
        </p:nvSpPr>
        <p:spPr>
          <a:xfrm>
            <a:off x="661475" y="2000052"/>
            <a:ext cx="6296860" cy="204391"/>
          </a:xfrm>
          <a:prstGeom prst="rect">
            <a:avLst/>
          </a:prstGeom>
          <a:noFill/>
          <a:ln/>
        </p:spPr>
        <p:txBody>
          <a:bodyPr wrap="none" lIns="0" tIns="0" rIns="0" bIns="0" rtlCol="0" anchor="t"/>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Cotton (51K) and coconut (34K) stand out, followed by ginger (26K) and tea (23K)</a:t>
            </a:r>
            <a:endParaRPr lang="en-US" sz="11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425998"/>
            <a:ext cx="361743" cy="361752"/>
          </a:xfrm>
          <a:prstGeom prst="rect">
            <a:avLst/>
          </a:prstGeom>
        </p:spPr>
      </p:pic>
      <p:sp>
        <p:nvSpPr>
          <p:cNvPr id="8" name="Text 3"/>
          <p:cNvSpPr/>
          <p:nvPr/>
        </p:nvSpPr>
        <p:spPr>
          <a:xfrm>
            <a:off x="661475" y="2926159"/>
            <a:ext cx="6296860"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Season Pattern</a:t>
            </a:r>
            <a:endParaRPr lang="en-US" sz="1400" dirty="0"/>
          </a:p>
        </p:txBody>
      </p:sp>
      <p:sp>
        <p:nvSpPr>
          <p:cNvPr id="9" name="Text 4"/>
          <p:cNvSpPr/>
          <p:nvPr/>
        </p:nvSpPr>
        <p:spPr>
          <a:xfrm>
            <a:off x="661475" y="3218656"/>
            <a:ext cx="6296860"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Rabi gives the highest yield (24.9K) and is also the cooler season — a pattern in the data, not proof of cause</a:t>
            </a:r>
            <a:endParaRPr lang="en-US" sz="11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848993"/>
            <a:ext cx="361743" cy="361752"/>
          </a:xfrm>
          <a:prstGeom prst="rect">
            <a:avLst/>
          </a:prstGeom>
        </p:spPr>
      </p:pic>
      <p:sp>
        <p:nvSpPr>
          <p:cNvPr id="11" name="Text 5"/>
          <p:cNvSpPr/>
          <p:nvPr/>
        </p:nvSpPr>
        <p:spPr>
          <a:xfrm>
            <a:off x="661475" y="4349155"/>
            <a:ext cx="6296860"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Location Insight</a:t>
            </a:r>
            <a:endParaRPr lang="en-US" sz="1400" dirty="0"/>
          </a:p>
        </p:txBody>
      </p:sp>
      <p:sp>
        <p:nvSpPr>
          <p:cNvPr id="12" name="Text 6"/>
          <p:cNvSpPr/>
          <p:nvPr/>
        </p:nvSpPr>
        <p:spPr>
          <a:xfrm>
            <a:off x="661475" y="4641652"/>
            <a:ext cx="6296860" cy="408781"/>
          </a:xfrm>
          <a:prstGeom prst="rect">
            <a:avLst/>
          </a:prstGeom>
          <a:noFill/>
          <a:ln/>
        </p:spPr>
        <p:txBody>
          <a:bodyPr wrap="square" lIns="0" tIns="0" rIns="0" bIns="0" rtlCol="0" anchor="t">
            <a:normAutofit/>
          </a:bodyPr>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Kodagu (29K) and Mysuru (28K) lead on yield. Bangalore has the highest rainfall (3.8K) but only 22K yield — more rain does not mean more yield</a:t>
            </a:r>
            <a:endParaRPr lang="en-US" sz="11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271988"/>
            <a:ext cx="361743" cy="361752"/>
          </a:xfrm>
          <a:prstGeom prst="rect">
            <a:avLst/>
          </a:prstGeom>
        </p:spPr>
      </p:pic>
      <p:sp>
        <p:nvSpPr>
          <p:cNvPr id="14" name="Text 7"/>
          <p:cNvSpPr/>
          <p:nvPr/>
        </p:nvSpPr>
        <p:spPr>
          <a:xfrm>
            <a:off x="661475" y="5772150"/>
            <a:ext cx="6296860" cy="226020"/>
          </a:xfrm>
          <a:prstGeom prst="rect">
            <a:avLst/>
          </a:prstGeom>
          <a:noFill/>
          <a:ln/>
        </p:spPr>
        <p:txBody>
          <a:bodyPr wrap="none" lIns="0" tIns="0" rIns="0" bIns="0" rtlCol="0" anchor="t"/>
          <a:lstStyle/>
          <a:p>
            <a:pPr algn="l" indent="0" marL="0">
              <a:lnSpc>
                <a:spcPct val="104000"/>
              </a:lnSpc>
              <a:buNone/>
            </a:pPr>
            <a:r>
              <a:rPr lang="en-US" sz="1400" spc="-28" kern="0" dirty="0">
                <a:solidFill>
                  <a:srgbClr val="4C4C4C"/>
                </a:solidFill>
                <a:latin typeface="Noto Serif Medium" pitchFamily="34" charset="0"/>
                <a:ea typeface="Noto Serif Medium" pitchFamily="34" charset="-122"/>
                <a:cs typeface="Noto Serif Medium" pitchFamily="34" charset="-120"/>
              </a:rPr>
              <a:t>Humidity</a:t>
            </a:r>
            <a:endParaRPr lang="en-US" sz="1400" dirty="0"/>
          </a:p>
        </p:txBody>
      </p:sp>
      <p:sp>
        <p:nvSpPr>
          <p:cNvPr id="15" name="Text 8"/>
          <p:cNvSpPr/>
          <p:nvPr/>
        </p:nvSpPr>
        <p:spPr>
          <a:xfrm>
            <a:off x="661475" y="6064647"/>
            <a:ext cx="6296860" cy="204391"/>
          </a:xfrm>
          <a:prstGeom prst="rect">
            <a:avLst/>
          </a:prstGeom>
          <a:noFill/>
          <a:ln/>
        </p:spPr>
        <p:txBody>
          <a:bodyPr wrap="none" lIns="0" tIns="0" rIns="0" bIns="0" rtlCol="0" anchor="t"/>
          <a:lstStyle/>
          <a:p>
            <a:pPr algn="l" indent="0" marL="0">
              <a:lnSpc>
                <a:spcPct val="118000"/>
              </a:lnSpc>
              <a:buNone/>
            </a:pPr>
            <a:r>
              <a:rPr lang="en-US" sz="1100" dirty="0">
                <a:solidFill>
                  <a:srgbClr val="4C4C4C"/>
                </a:solidFill>
                <a:latin typeface="Noto Serif" pitchFamily="34" charset="0"/>
                <a:ea typeface="Noto Serif" pitchFamily="34" charset="-122"/>
                <a:cs typeface="Noto Serif" pitchFamily="34" charset="-120"/>
              </a:rPr>
              <a:t>Almost constant at 55–56 across all groups, so it is not useful for telling groups apart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2026-10-01T07:19:27Z</dcterms:created>
  <dcterms:modified xsi:type="dcterms:W3CDTF">2026-10-01T07:19:27Z</dcterms:modified>
</cp:coreProperties>
</file>